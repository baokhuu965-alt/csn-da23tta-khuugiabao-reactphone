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embeddedFontLst>
    <p:embeddedFont>
      <p:font typeface="Inter" panose="020B0604020202020204" charset="0"/>
      <p:regular r:id="rId30"/>
      <p:bold r:id="rId31"/>
      <p:italic r:id="rId32"/>
      <p:boldItalic r:id="rId33"/>
    </p:embeddedFont>
    <p:embeddedFont>
      <p:font typeface="Urbanist"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1FFD81-30CF-4385-A949-D76856F522E5}">
  <a:tblStyle styleId="{CA1FFD81-30CF-4385-A949-D76856F522E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0" name="Google Shape;39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5" name="Google Shape;405;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5" name="Google Shape;445;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5" name="Google Shape;48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3874740"/>
            <a:ext cx="11049000" cy="1487685"/>
          </a:xfrm>
          <a:prstGeom prst="rect">
            <a:avLst/>
          </a:prstGeom>
          <a:noFill/>
          <a:ln>
            <a:noFill/>
          </a:ln>
        </p:spPr>
      </p:pic>
      <p:sp>
        <p:nvSpPr>
          <p:cNvPr id="86" name="Google Shape;86;p13"/>
          <p:cNvSpPr txBox="1"/>
          <p:nvPr/>
        </p:nvSpPr>
        <p:spPr>
          <a:xfrm>
            <a:off x="295275" y="1495573"/>
            <a:ext cx="116014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6B6D4"/>
                </a:solidFill>
                <a:latin typeface="Urbanist"/>
                <a:ea typeface="Urbanist"/>
                <a:cs typeface="Urbanist"/>
                <a:sym typeface="Urbanist"/>
              </a:rPr>
              <a:t>ĐỒ ÁN CƠ SỞ NGÀNH</a:t>
            </a:r>
            <a:endParaRPr/>
          </a:p>
        </p:txBody>
      </p:sp>
      <p:sp>
        <p:nvSpPr>
          <p:cNvPr id="87" name="Google Shape;87;p13"/>
          <p:cNvSpPr txBox="1"/>
          <p:nvPr/>
        </p:nvSpPr>
        <p:spPr>
          <a:xfrm>
            <a:off x="295275" y="1962298"/>
            <a:ext cx="11601450" cy="1340941"/>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a:solidFill>
                  <a:srgbClr val="06B6D4"/>
                </a:solidFill>
                <a:latin typeface="Urbanist"/>
                <a:ea typeface="Urbanist"/>
                <a:cs typeface="Urbanist"/>
                <a:sym typeface="Urbanist"/>
              </a:rPr>
              <a:t>Lập Trình Front-end Cho Web</a:t>
            </a:r>
            <a:br>
              <a:rPr lang="en-US" sz="1800" b="0" i="0" u="none" strike="noStrike" cap="none">
                <a:solidFill>
                  <a:schemeClr val="dk1"/>
                </a:solidFill>
                <a:latin typeface="Calibri"/>
                <a:ea typeface="Calibri"/>
                <a:cs typeface="Calibri"/>
                <a:sym typeface="Calibri"/>
              </a:rPr>
            </a:br>
            <a:r>
              <a:rPr lang="en-US" sz="4800" b="1" i="0" u="none" strike="noStrike" cap="none">
                <a:solidFill>
                  <a:srgbClr val="FFFFFF"/>
                </a:solidFill>
                <a:latin typeface="Urbanist"/>
                <a:ea typeface="Urbanist"/>
                <a:cs typeface="Urbanist"/>
                <a:sym typeface="Urbanist"/>
              </a:rPr>
              <a:t>Bán Điện Thoại Bằng ReactJS</a:t>
            </a:r>
            <a:endParaRPr/>
          </a:p>
        </p:txBody>
      </p:sp>
      <p:sp>
        <p:nvSpPr>
          <p:cNvPr id="88" name="Google Shape;88;p13"/>
          <p:cNvSpPr txBox="1"/>
          <p:nvPr/>
        </p:nvSpPr>
        <p:spPr>
          <a:xfrm>
            <a:off x="2407443" y="4265265"/>
            <a:ext cx="16097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94A3B8"/>
                </a:solidFill>
                <a:latin typeface="Inter"/>
                <a:ea typeface="Inter"/>
                <a:cs typeface="Inter"/>
                <a:sym typeface="Inter"/>
              </a:rPr>
              <a:t>Sinh viên thực hiện:</a:t>
            </a:r>
            <a:endParaRPr/>
          </a:p>
        </p:txBody>
      </p:sp>
      <p:sp>
        <p:nvSpPr>
          <p:cNvPr id="89" name="Google Shape;89;p13"/>
          <p:cNvSpPr txBox="1"/>
          <p:nvPr/>
        </p:nvSpPr>
        <p:spPr>
          <a:xfrm>
            <a:off x="2407443" y="4768155"/>
            <a:ext cx="1609725"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FFFFFF"/>
                </a:solidFill>
                <a:latin typeface="Inter"/>
                <a:ea typeface="Inter"/>
                <a:cs typeface="Inter"/>
                <a:sym typeface="Inter"/>
              </a:rPr>
              <a:t>Khưu Gia Bảo</a:t>
            </a:r>
            <a:endParaRPr/>
          </a:p>
        </p:txBody>
      </p:sp>
      <p:sp>
        <p:nvSpPr>
          <p:cNvPr id="90" name="Google Shape;90;p13"/>
          <p:cNvSpPr txBox="1"/>
          <p:nvPr/>
        </p:nvSpPr>
        <p:spPr>
          <a:xfrm>
            <a:off x="7689056" y="4265265"/>
            <a:ext cx="20955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94A3B8"/>
                </a:solidFill>
                <a:latin typeface="Inter"/>
                <a:ea typeface="Inter"/>
                <a:cs typeface="Inter"/>
                <a:sym typeface="Inter"/>
              </a:rPr>
              <a:t>Giảng viên hướng dẫn:</a:t>
            </a:r>
            <a:endParaRPr/>
          </a:p>
        </p:txBody>
      </p:sp>
      <p:sp>
        <p:nvSpPr>
          <p:cNvPr id="91" name="Google Shape;91;p13"/>
          <p:cNvSpPr txBox="1"/>
          <p:nvPr/>
        </p:nvSpPr>
        <p:spPr>
          <a:xfrm>
            <a:off x="7689055" y="4768155"/>
            <a:ext cx="2897246"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err="1">
                <a:solidFill>
                  <a:srgbClr val="FFFFFF"/>
                </a:solidFill>
                <a:latin typeface="Inter"/>
                <a:ea typeface="Inter"/>
                <a:cs typeface="Inter"/>
                <a:sym typeface="Inter"/>
              </a:rPr>
              <a:t>ThS</a:t>
            </a:r>
            <a:r>
              <a:rPr lang="en-US" sz="1800" b="1" i="0" u="none" strike="noStrike" cap="none" dirty="0">
                <a:solidFill>
                  <a:srgbClr val="FFFFFF"/>
                </a:solidFill>
                <a:latin typeface="Inter"/>
                <a:ea typeface="Inter"/>
                <a:cs typeface="Inter"/>
                <a:sym typeface="Inter"/>
              </a:rPr>
              <a:t>. Phạm Thị Trúc Mai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8" name="Google Shape;98;p14"/>
          <p:cNvSpPr txBox="1"/>
          <p:nvPr/>
        </p:nvSpPr>
        <p:spPr>
          <a:xfrm>
            <a:off x="952500" y="2801391"/>
            <a:ext cx="10287000" cy="11885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1" u="none" strike="noStrike" cap="none">
                <a:solidFill>
                  <a:srgbClr val="F1F5F9"/>
                </a:solidFill>
                <a:latin typeface="Inter"/>
                <a:ea typeface="Inter"/>
                <a:cs typeface="Inter"/>
                <a:sym typeface="Inter"/>
              </a:rPr>
              <a:t>"Em xin gửi lời cảm ơn chân thành nhất tới Ban giám hiệu Trường Đại học Trà Vinh và đặc biệt là Cô Phạm Thị Trúc Mai đã tận tình hướng dẫn, định hướng chuyên môn để em hoàn thành tốt đồ án này."</a:t>
            </a:r>
            <a:endParaRPr/>
          </a:p>
        </p:txBody>
      </p:sp>
      <p:sp>
        <p:nvSpPr>
          <p:cNvPr id="99" name="Google Shape;99;p14"/>
          <p:cNvSpPr txBox="1"/>
          <p:nvPr/>
        </p:nvSpPr>
        <p:spPr>
          <a:xfrm>
            <a:off x="952500" y="4370933"/>
            <a:ext cx="102870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Những kiến thức về </a:t>
            </a:r>
            <a:r>
              <a:rPr lang="en-US" sz="1500" b="1" i="0" u="none" strike="noStrike" cap="none">
                <a:solidFill>
                  <a:srgbClr val="06B6D4"/>
                </a:solidFill>
                <a:latin typeface="Inter"/>
                <a:ea typeface="Inter"/>
                <a:cs typeface="Inter"/>
                <a:sym typeface="Inter"/>
              </a:rPr>
              <a:t>ReactJS</a:t>
            </a:r>
            <a:r>
              <a:rPr lang="en-US" sz="1500" b="0" i="0" u="none" strike="noStrike" cap="none">
                <a:solidFill>
                  <a:srgbClr val="CBD5E1"/>
                </a:solidFill>
                <a:latin typeface="Inter"/>
                <a:ea typeface="Inter"/>
                <a:cs typeface="Inter"/>
                <a:sym typeface="Inter"/>
              </a:rPr>
              <a:t> và </a:t>
            </a:r>
            <a:r>
              <a:rPr lang="en-US" sz="1500" b="1" i="0" u="none" strike="noStrike" cap="none">
                <a:solidFill>
                  <a:srgbClr val="06B6D4"/>
                </a:solidFill>
                <a:latin typeface="Inter"/>
                <a:ea typeface="Inter"/>
                <a:cs typeface="Inter"/>
                <a:sym typeface="Inter"/>
              </a:rPr>
              <a:t>Context API</a:t>
            </a:r>
            <a:r>
              <a:rPr lang="en-US" sz="1500" b="0" i="0" u="none" strike="noStrike" cap="none">
                <a:solidFill>
                  <a:srgbClr val="CBD5E1"/>
                </a:solidFill>
                <a:latin typeface="Inter"/>
                <a:ea typeface="Inter"/>
                <a:cs typeface="Inter"/>
                <a:sym typeface="Inter"/>
              </a:rPr>
              <a:t> mà các thầy cô truyền đạt là nền tảng vững chắc để em phát triển sự nghiệp lập trình trong tương lai.</a:t>
            </a:r>
            <a:endParaRPr/>
          </a:p>
        </p:txBody>
      </p:sp>
      <p:sp>
        <p:nvSpPr>
          <p:cNvPr id="100" name="Google Shape;100;p14"/>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LỜI CẢM ƠN</a:t>
            </a:r>
            <a:endParaRPr/>
          </a:p>
        </p:txBody>
      </p:sp>
      <p:sp>
        <p:nvSpPr>
          <p:cNvPr id="101" name="Google Shape;101;p14"/>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05"/>
        <p:cNvGrpSpPr/>
        <p:nvPr/>
      </p:nvGrpSpPr>
      <p:grpSpPr>
        <a:xfrm>
          <a:off x="0" y="0"/>
          <a:ext cx="0" cy="0"/>
          <a:chOff x="0" y="0"/>
          <a:chExt cx="0" cy="0"/>
        </a:xfrm>
      </p:grpSpPr>
      <p:pic>
        <p:nvPicPr>
          <p:cNvPr id="106" name="Google Shape;106;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7" name="Google Shape;107;p15"/>
          <p:cNvSpPr txBox="1"/>
          <p:nvPr/>
        </p:nvSpPr>
        <p:spPr>
          <a:xfrm>
            <a:off x="295275" y="2371725"/>
            <a:ext cx="11601450"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6B6D4"/>
                </a:solidFill>
                <a:latin typeface="Urbanist"/>
                <a:ea typeface="Urbanist"/>
                <a:cs typeface="Urbanist"/>
                <a:sym typeface="Urbanist"/>
              </a:rPr>
              <a:t>CHƯƠNG 1</a:t>
            </a:r>
            <a:endParaRPr/>
          </a:p>
        </p:txBody>
      </p:sp>
      <p:sp>
        <p:nvSpPr>
          <p:cNvPr id="108" name="Google Shape;108;p15"/>
          <p:cNvSpPr txBox="1"/>
          <p:nvPr/>
        </p:nvSpPr>
        <p:spPr>
          <a:xfrm>
            <a:off x="295275" y="2828925"/>
            <a:ext cx="11601450"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06B6D4"/>
                </a:solidFill>
                <a:latin typeface="Urbanist"/>
                <a:ea typeface="Urbanist"/>
                <a:cs typeface="Urbanist"/>
                <a:sym typeface="Urbanist"/>
              </a:rPr>
              <a:t>TỔNG QUAN ĐỀ TÀI</a:t>
            </a:r>
            <a:endParaRPr/>
          </a:p>
        </p:txBody>
      </p:sp>
      <p:sp>
        <p:nvSpPr>
          <p:cNvPr id="109" name="Google Shape;109;p15"/>
          <p:cNvSpPr/>
          <p:nvPr/>
        </p:nvSpPr>
        <p:spPr>
          <a:xfrm>
            <a:off x="5381625" y="4048125"/>
            <a:ext cx="1428750" cy="5715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3"/>
        <p:cNvGrpSpPr/>
        <p:nvPr/>
      </p:nvGrpSpPr>
      <p:grpSpPr>
        <a:xfrm>
          <a:off x="0" y="0"/>
          <a:ext cx="0" cy="0"/>
          <a:chOff x="0" y="0"/>
          <a:chExt cx="0" cy="0"/>
        </a:xfrm>
      </p:grpSpPr>
      <p:pic>
        <p:nvPicPr>
          <p:cNvPr id="114" name="Google Shape;11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5" name="Google Shape;115;p16" descr="image.png"/>
          <p:cNvPicPr preferRelativeResize="0"/>
          <p:nvPr/>
        </p:nvPicPr>
        <p:blipFill rotWithShape="1">
          <a:blip r:embed="rId4">
            <a:alphaModFix/>
          </a:blip>
          <a:srcRect/>
          <a:stretch/>
        </p:blipFill>
        <p:spPr>
          <a:xfrm>
            <a:off x="6381750" y="1719262"/>
            <a:ext cx="5238750" cy="4286250"/>
          </a:xfrm>
          <a:prstGeom prst="rect">
            <a:avLst/>
          </a:prstGeom>
          <a:noFill/>
          <a:ln>
            <a:noFill/>
          </a:ln>
        </p:spPr>
      </p:pic>
      <p:pic>
        <p:nvPicPr>
          <p:cNvPr id="116" name="Google Shape;116;p16" descr="image.png"/>
          <p:cNvPicPr preferRelativeResize="0"/>
          <p:nvPr/>
        </p:nvPicPr>
        <p:blipFill rotWithShape="1">
          <a:blip r:embed="rId5">
            <a:alphaModFix/>
          </a:blip>
          <a:srcRect/>
          <a:stretch/>
        </p:blipFill>
        <p:spPr>
          <a:xfrm>
            <a:off x="6391275" y="1728787"/>
            <a:ext cx="5219700" cy="4267200"/>
          </a:xfrm>
          <a:prstGeom prst="rect">
            <a:avLst/>
          </a:prstGeom>
          <a:noFill/>
          <a:ln>
            <a:noFill/>
          </a:ln>
        </p:spPr>
      </p:pic>
      <p:sp>
        <p:nvSpPr>
          <p:cNvPr id="117" name="Google Shape;117;p16"/>
          <p:cNvSpPr txBox="1"/>
          <p:nvPr/>
        </p:nvSpPr>
        <p:spPr>
          <a:xfrm>
            <a:off x="1333500" y="1938337"/>
            <a:ext cx="4476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Củng cố kiến thức về </a:t>
            </a:r>
            <a:r>
              <a:rPr lang="en-US" sz="1500" b="1" i="0" u="none" strike="noStrike" cap="none">
                <a:solidFill>
                  <a:srgbClr val="06B6D4"/>
                </a:solidFill>
                <a:latin typeface="Inter"/>
                <a:ea typeface="Inter"/>
                <a:cs typeface="Inter"/>
                <a:sym typeface="Inter"/>
              </a:rPr>
              <a:t>ReactJS</a:t>
            </a:r>
            <a:r>
              <a:rPr lang="en-US" sz="1500" b="0" i="0" u="none" strike="noStrike" cap="none">
                <a:solidFill>
                  <a:srgbClr val="CBD5E1"/>
                </a:solidFill>
                <a:latin typeface="Inter"/>
                <a:ea typeface="Inter"/>
                <a:cs typeface="Inter"/>
                <a:sym typeface="Inter"/>
              </a:rPr>
              <a:t> và các thư viện hỗ trợ.</a:t>
            </a:r>
            <a:endParaRPr/>
          </a:p>
        </p:txBody>
      </p:sp>
      <p:sp>
        <p:nvSpPr>
          <p:cNvPr id="118" name="Google Shape;118;p16"/>
          <p:cNvSpPr txBox="1"/>
          <p:nvPr/>
        </p:nvSpPr>
        <p:spPr>
          <a:xfrm>
            <a:off x="1333500" y="2738437"/>
            <a:ext cx="4476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Xây dựng giao diện thương mại điện tử mượt mà, tốc độ cao.</a:t>
            </a:r>
            <a:endParaRPr/>
          </a:p>
        </p:txBody>
      </p:sp>
      <p:sp>
        <p:nvSpPr>
          <p:cNvPr id="119" name="Google Shape;119;p16"/>
          <p:cNvSpPr txBox="1"/>
          <p:nvPr/>
        </p:nvSpPr>
        <p:spPr>
          <a:xfrm>
            <a:off x="1333500" y="3538537"/>
            <a:ext cx="4476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Nắm vững tư duy </a:t>
            </a:r>
            <a:r>
              <a:rPr lang="en-US" sz="1500" b="1" i="0" u="none" strike="noStrike" cap="none">
                <a:solidFill>
                  <a:srgbClr val="06B6D4"/>
                </a:solidFill>
                <a:latin typeface="Inter"/>
                <a:ea typeface="Inter"/>
                <a:cs typeface="Inter"/>
                <a:sym typeface="Inter"/>
              </a:rPr>
              <a:t>Component-based</a:t>
            </a:r>
            <a:r>
              <a:rPr lang="en-US" sz="1500" b="0" i="0" u="none" strike="noStrike" cap="none">
                <a:solidFill>
                  <a:srgbClr val="CBD5E1"/>
                </a:solidFill>
                <a:latin typeface="Inter"/>
                <a:ea typeface="Inter"/>
                <a:cs typeface="Inter"/>
                <a:sym typeface="Inter"/>
              </a:rPr>
              <a:t> và quản lý trạng thái.</a:t>
            </a:r>
            <a:endParaRPr/>
          </a:p>
        </p:txBody>
      </p:sp>
      <p:sp>
        <p:nvSpPr>
          <p:cNvPr id="120" name="Google Shape;120;p16"/>
          <p:cNvSpPr txBox="1"/>
          <p:nvPr/>
        </p:nvSpPr>
        <p:spPr>
          <a:xfrm>
            <a:off x="1333500" y="4338637"/>
            <a:ext cx="4476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Tối ưu hóa trải nghiệm người dùng (</a:t>
            </a:r>
            <a:r>
              <a:rPr lang="en-US" sz="1500" b="1" i="0" u="none" strike="noStrike" cap="none">
                <a:solidFill>
                  <a:srgbClr val="06B6D4"/>
                </a:solidFill>
                <a:latin typeface="Inter"/>
                <a:ea typeface="Inter"/>
                <a:cs typeface="Inter"/>
                <a:sym typeface="Inter"/>
              </a:rPr>
              <a:t>UI/UX</a:t>
            </a:r>
            <a:r>
              <a:rPr lang="en-US" sz="1500" b="0" i="0" u="none" strike="noStrike" cap="none">
                <a:solidFill>
                  <a:srgbClr val="CBD5E1"/>
                </a:solidFill>
                <a:latin typeface="Inter"/>
                <a:ea typeface="Inter"/>
                <a:cs typeface="Inter"/>
                <a:sym typeface="Inter"/>
              </a:rPr>
              <a:t>) tối giản nhưng tinh tế.</a:t>
            </a:r>
            <a:endParaRPr/>
          </a:p>
        </p:txBody>
      </p:sp>
      <p:sp>
        <p:nvSpPr>
          <p:cNvPr id="121" name="Google Shape;121;p16"/>
          <p:cNvSpPr txBox="1"/>
          <p:nvPr/>
        </p:nvSpPr>
        <p:spPr>
          <a:xfrm>
            <a:off x="1333500" y="5138737"/>
            <a:ext cx="4476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Đảm bảo tính tương thích </a:t>
            </a:r>
            <a:r>
              <a:rPr lang="en-US" sz="1500" b="1" i="0" u="none" strike="noStrike" cap="none">
                <a:solidFill>
                  <a:srgbClr val="06B6D4"/>
                </a:solidFill>
                <a:latin typeface="Inter"/>
                <a:ea typeface="Inter"/>
                <a:cs typeface="Inter"/>
                <a:sym typeface="Inter"/>
              </a:rPr>
              <a:t>Responsive</a:t>
            </a:r>
            <a:r>
              <a:rPr lang="en-US" sz="1500" b="0" i="0" u="none" strike="noStrike" cap="none">
                <a:solidFill>
                  <a:srgbClr val="CBD5E1"/>
                </a:solidFill>
                <a:latin typeface="Inter"/>
                <a:ea typeface="Inter"/>
                <a:cs typeface="Inter"/>
                <a:sym typeface="Inter"/>
              </a:rPr>
              <a:t> trên đa nền tảng.</a:t>
            </a:r>
            <a:endParaRPr/>
          </a:p>
        </p:txBody>
      </p:sp>
      <p:sp>
        <p:nvSpPr>
          <p:cNvPr id="122" name="Google Shape;122;p16"/>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MỤC TIÊU NGHIÊN CỨU</a:t>
            </a:r>
            <a:endParaRPr/>
          </a:p>
        </p:txBody>
      </p:sp>
      <p:sp>
        <p:nvSpPr>
          <p:cNvPr id="123" name="Google Shape;123;p16"/>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4" name="Google Shape;124;p16" descr="image.png"/>
          <p:cNvPicPr preferRelativeResize="0"/>
          <p:nvPr/>
        </p:nvPicPr>
        <p:blipFill rotWithShape="1">
          <a:blip r:embed="rId6">
            <a:alphaModFix/>
          </a:blip>
          <a:srcRect/>
          <a:stretch/>
        </p:blipFill>
        <p:spPr>
          <a:xfrm>
            <a:off x="952500" y="1938337"/>
            <a:ext cx="190500" cy="200025"/>
          </a:xfrm>
          <a:prstGeom prst="rect">
            <a:avLst/>
          </a:prstGeom>
          <a:noFill/>
          <a:ln>
            <a:noFill/>
          </a:ln>
        </p:spPr>
      </p:pic>
      <p:pic>
        <p:nvPicPr>
          <p:cNvPr id="125" name="Google Shape;125;p16" descr="image.png"/>
          <p:cNvPicPr preferRelativeResize="0"/>
          <p:nvPr/>
        </p:nvPicPr>
        <p:blipFill rotWithShape="1">
          <a:blip r:embed="rId6">
            <a:alphaModFix/>
          </a:blip>
          <a:srcRect/>
          <a:stretch/>
        </p:blipFill>
        <p:spPr>
          <a:xfrm>
            <a:off x="952500" y="2738437"/>
            <a:ext cx="190500" cy="200025"/>
          </a:xfrm>
          <a:prstGeom prst="rect">
            <a:avLst/>
          </a:prstGeom>
          <a:noFill/>
          <a:ln>
            <a:noFill/>
          </a:ln>
        </p:spPr>
      </p:pic>
      <p:pic>
        <p:nvPicPr>
          <p:cNvPr id="126" name="Google Shape;126;p16" descr="image.png"/>
          <p:cNvPicPr preferRelativeResize="0"/>
          <p:nvPr/>
        </p:nvPicPr>
        <p:blipFill rotWithShape="1">
          <a:blip r:embed="rId6">
            <a:alphaModFix/>
          </a:blip>
          <a:srcRect/>
          <a:stretch/>
        </p:blipFill>
        <p:spPr>
          <a:xfrm>
            <a:off x="952500" y="3538537"/>
            <a:ext cx="190500" cy="200025"/>
          </a:xfrm>
          <a:prstGeom prst="rect">
            <a:avLst/>
          </a:prstGeom>
          <a:noFill/>
          <a:ln>
            <a:noFill/>
          </a:ln>
        </p:spPr>
      </p:pic>
      <p:pic>
        <p:nvPicPr>
          <p:cNvPr id="127" name="Google Shape;127;p16" descr="image.png"/>
          <p:cNvPicPr preferRelativeResize="0"/>
          <p:nvPr/>
        </p:nvPicPr>
        <p:blipFill rotWithShape="1">
          <a:blip r:embed="rId6">
            <a:alphaModFix/>
          </a:blip>
          <a:srcRect/>
          <a:stretch/>
        </p:blipFill>
        <p:spPr>
          <a:xfrm>
            <a:off x="952500" y="4338637"/>
            <a:ext cx="190500" cy="200025"/>
          </a:xfrm>
          <a:prstGeom prst="rect">
            <a:avLst/>
          </a:prstGeom>
          <a:noFill/>
          <a:ln>
            <a:noFill/>
          </a:ln>
        </p:spPr>
      </p:pic>
      <p:pic>
        <p:nvPicPr>
          <p:cNvPr id="128" name="Google Shape;128;p16" descr="image.png"/>
          <p:cNvPicPr preferRelativeResize="0"/>
          <p:nvPr/>
        </p:nvPicPr>
        <p:blipFill rotWithShape="1">
          <a:blip r:embed="rId6">
            <a:alphaModFix/>
          </a:blip>
          <a:srcRect/>
          <a:stretch/>
        </p:blipFill>
        <p:spPr>
          <a:xfrm>
            <a:off x="952500" y="5138737"/>
            <a:ext cx="190500"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2"/>
        <p:cNvGrpSpPr/>
        <p:nvPr/>
      </p:nvGrpSpPr>
      <p:grpSpPr>
        <a:xfrm>
          <a:off x="0" y="0"/>
          <a:ext cx="0" cy="0"/>
          <a:chOff x="0" y="0"/>
          <a:chExt cx="0" cy="0"/>
        </a:xfrm>
      </p:grpSpPr>
      <p:pic>
        <p:nvPicPr>
          <p:cNvPr id="133" name="Google Shape;13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4" name="Google Shape;134;p17" descr="image.png"/>
          <p:cNvPicPr preferRelativeResize="0"/>
          <p:nvPr/>
        </p:nvPicPr>
        <p:blipFill rotWithShape="1">
          <a:blip r:embed="rId4">
            <a:alphaModFix/>
          </a:blip>
          <a:srcRect/>
          <a:stretch/>
        </p:blipFill>
        <p:spPr>
          <a:xfrm>
            <a:off x="571500" y="1957387"/>
            <a:ext cx="5238750" cy="3810000"/>
          </a:xfrm>
          <a:prstGeom prst="rect">
            <a:avLst/>
          </a:prstGeom>
          <a:noFill/>
          <a:ln>
            <a:noFill/>
          </a:ln>
        </p:spPr>
      </p:pic>
      <p:pic>
        <p:nvPicPr>
          <p:cNvPr id="135" name="Google Shape;135;p17" descr="image.png"/>
          <p:cNvPicPr preferRelativeResize="0"/>
          <p:nvPr/>
        </p:nvPicPr>
        <p:blipFill rotWithShape="1">
          <a:blip r:embed="rId5">
            <a:alphaModFix/>
          </a:blip>
          <a:srcRect/>
          <a:stretch/>
        </p:blipFill>
        <p:spPr>
          <a:xfrm>
            <a:off x="6381750" y="3771900"/>
            <a:ext cx="5238750" cy="1390650"/>
          </a:xfrm>
          <a:prstGeom prst="rect">
            <a:avLst/>
          </a:prstGeom>
          <a:noFill/>
          <a:ln>
            <a:noFill/>
          </a:ln>
        </p:spPr>
      </p:pic>
      <p:pic>
        <p:nvPicPr>
          <p:cNvPr id="136" name="Google Shape;136;p17" descr="image.png"/>
          <p:cNvPicPr preferRelativeResize="0"/>
          <p:nvPr/>
        </p:nvPicPr>
        <p:blipFill rotWithShape="1">
          <a:blip r:embed="rId6">
            <a:alphaModFix/>
          </a:blip>
          <a:srcRect/>
          <a:stretch/>
        </p:blipFill>
        <p:spPr>
          <a:xfrm>
            <a:off x="581025" y="1966912"/>
            <a:ext cx="5219700" cy="3790950"/>
          </a:xfrm>
          <a:prstGeom prst="rect">
            <a:avLst/>
          </a:prstGeom>
          <a:noFill/>
          <a:ln>
            <a:noFill/>
          </a:ln>
        </p:spPr>
      </p:pic>
      <p:sp>
        <p:nvSpPr>
          <p:cNvPr id="137" name="Google Shape;137;p17"/>
          <p:cNvSpPr txBox="1"/>
          <p:nvPr/>
        </p:nvSpPr>
        <p:spPr>
          <a:xfrm>
            <a:off x="6381750" y="2562225"/>
            <a:ext cx="550068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FFFFF"/>
                </a:solidFill>
                <a:latin typeface="Urbanist"/>
                <a:ea typeface="Urbanist"/>
                <a:cs typeface="Urbanist"/>
                <a:sym typeface="Urbanist"/>
              </a:rPr>
              <a:t>Thách thức của Web truyền thống</a:t>
            </a:r>
            <a:endParaRPr/>
          </a:p>
        </p:txBody>
      </p:sp>
      <p:sp>
        <p:nvSpPr>
          <p:cNvPr id="138" name="Google Shape;138;p17"/>
          <p:cNvSpPr txBox="1"/>
          <p:nvPr/>
        </p:nvSpPr>
        <p:spPr>
          <a:xfrm>
            <a:off x="6381750" y="2971800"/>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Web truyền thống thường gặp vấn đề về </a:t>
            </a:r>
            <a:r>
              <a:rPr lang="en-US" sz="1500" b="1" i="0" u="none" strike="noStrike" cap="none">
                <a:solidFill>
                  <a:srgbClr val="06B6D4"/>
                </a:solidFill>
                <a:latin typeface="Inter"/>
                <a:ea typeface="Inter"/>
                <a:cs typeface="Inter"/>
                <a:sym typeface="Inter"/>
              </a:rPr>
              <a:t>tốc độ tải trang chậm</a:t>
            </a:r>
            <a:r>
              <a:rPr lang="en-US" sz="1500" b="0" i="0" u="none" strike="noStrike" cap="none">
                <a:solidFill>
                  <a:srgbClr val="CBD5E1"/>
                </a:solidFill>
                <a:latin typeface="Inter"/>
                <a:ea typeface="Inter"/>
                <a:cs typeface="Inter"/>
                <a:sym typeface="Inter"/>
              </a:rPr>
              <a:t> và giao diện thiếu linh hoạt khi thao tác.</a:t>
            </a:r>
            <a:endParaRPr/>
          </a:p>
        </p:txBody>
      </p:sp>
      <p:sp>
        <p:nvSpPr>
          <p:cNvPr id="139" name="Google Shape;139;p17"/>
          <p:cNvSpPr txBox="1"/>
          <p:nvPr/>
        </p:nvSpPr>
        <p:spPr>
          <a:xfrm>
            <a:off x="6619875" y="4010025"/>
            <a:ext cx="4762500" cy="91440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Giải pháp:</a:t>
            </a:r>
            <a:r>
              <a:rPr lang="en-US" sz="1500" b="0" i="0" u="none" strike="noStrike" cap="none">
                <a:solidFill>
                  <a:srgbClr val="CBD5E1"/>
                </a:solidFill>
                <a:latin typeface="Inter"/>
                <a:ea typeface="Inter"/>
                <a:cs typeface="Inter"/>
                <a:sym typeface="Inter"/>
              </a:rPr>
              <a:t> Ứng dụng ReactJS vào xây dựng </a:t>
            </a:r>
            <a:r>
              <a:rPr lang="en-US" sz="1500" b="1" i="0" u="none" strike="noStrike" cap="none">
                <a:solidFill>
                  <a:srgbClr val="06B6D4"/>
                </a:solidFill>
                <a:latin typeface="Inter"/>
                <a:ea typeface="Inter"/>
                <a:cs typeface="Inter"/>
                <a:sym typeface="Inter"/>
              </a:rPr>
              <a:t>Single Page Application (SPA)</a:t>
            </a:r>
            <a:r>
              <a:rPr lang="en-US" sz="1500" b="0" i="0" u="none" strike="noStrike" cap="none">
                <a:solidFill>
                  <a:srgbClr val="CBD5E1"/>
                </a:solidFill>
                <a:latin typeface="Inter"/>
                <a:ea typeface="Inter"/>
                <a:cs typeface="Inter"/>
                <a:sym typeface="Inter"/>
              </a:rPr>
              <a:t> giúp người dùng trải nghiệm mua sắm mượt mà, không gián đoạn.</a:t>
            </a:r>
            <a:endParaRPr/>
          </a:p>
        </p:txBody>
      </p:sp>
      <p:pic>
        <p:nvPicPr>
          <p:cNvPr id="140" name="Google Shape;140;p17" descr="image.png"/>
          <p:cNvPicPr preferRelativeResize="0"/>
          <p:nvPr/>
        </p:nvPicPr>
        <p:blipFill rotWithShape="1">
          <a:blip r:embed="rId7">
            <a:alphaModFix/>
          </a:blip>
          <a:srcRect/>
          <a:stretch/>
        </p:blipFill>
        <p:spPr>
          <a:xfrm>
            <a:off x="6619875" y="4067175"/>
            <a:ext cx="171450" cy="190500"/>
          </a:xfrm>
          <a:prstGeom prst="rect">
            <a:avLst/>
          </a:prstGeom>
          <a:noFill/>
          <a:ln>
            <a:noFill/>
          </a:ln>
        </p:spPr>
      </p:pic>
      <p:sp>
        <p:nvSpPr>
          <p:cNvPr id="141" name="Google Shape;141;p17"/>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VẤN ĐỀ THỰC TIỄN</a:t>
            </a:r>
            <a:endParaRPr/>
          </a:p>
        </p:txBody>
      </p:sp>
      <p:sp>
        <p:nvSpPr>
          <p:cNvPr id="142" name="Google Shape;142;p17"/>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8" name="Google Shape;148;p18" descr="image.png"/>
          <p:cNvPicPr preferRelativeResize="0"/>
          <p:nvPr/>
        </p:nvPicPr>
        <p:blipFill rotWithShape="1">
          <a:blip r:embed="rId4">
            <a:alphaModFix/>
          </a:blip>
          <a:srcRect/>
          <a:stretch/>
        </p:blipFill>
        <p:spPr>
          <a:xfrm>
            <a:off x="571500" y="2314575"/>
            <a:ext cx="3492400" cy="3095625"/>
          </a:xfrm>
          <a:prstGeom prst="rect">
            <a:avLst/>
          </a:prstGeom>
          <a:noFill/>
          <a:ln>
            <a:noFill/>
          </a:ln>
        </p:spPr>
      </p:pic>
      <p:pic>
        <p:nvPicPr>
          <p:cNvPr id="149" name="Google Shape;149;p18" descr="image.png"/>
          <p:cNvPicPr preferRelativeResize="0"/>
          <p:nvPr/>
        </p:nvPicPr>
        <p:blipFill rotWithShape="1">
          <a:blip r:embed="rId5">
            <a:alphaModFix/>
          </a:blip>
          <a:srcRect/>
          <a:stretch/>
        </p:blipFill>
        <p:spPr>
          <a:xfrm>
            <a:off x="4349650" y="2314575"/>
            <a:ext cx="3492549" cy="3095625"/>
          </a:xfrm>
          <a:prstGeom prst="rect">
            <a:avLst/>
          </a:prstGeom>
          <a:noFill/>
          <a:ln>
            <a:noFill/>
          </a:ln>
        </p:spPr>
      </p:pic>
      <p:pic>
        <p:nvPicPr>
          <p:cNvPr id="150" name="Google Shape;150;p18" descr="image.png"/>
          <p:cNvPicPr preferRelativeResize="0"/>
          <p:nvPr/>
        </p:nvPicPr>
        <p:blipFill rotWithShape="1">
          <a:blip r:embed="rId4">
            <a:alphaModFix/>
          </a:blip>
          <a:srcRect/>
          <a:stretch/>
        </p:blipFill>
        <p:spPr>
          <a:xfrm>
            <a:off x="8127950" y="2314575"/>
            <a:ext cx="3492400" cy="3095625"/>
          </a:xfrm>
          <a:prstGeom prst="rect">
            <a:avLst/>
          </a:prstGeom>
          <a:noFill/>
          <a:ln>
            <a:noFill/>
          </a:ln>
        </p:spPr>
      </p:pic>
      <p:pic>
        <p:nvPicPr>
          <p:cNvPr id="151" name="Google Shape;151;p18" descr="image.png"/>
          <p:cNvPicPr preferRelativeResize="0"/>
          <p:nvPr/>
        </p:nvPicPr>
        <p:blipFill rotWithShape="1">
          <a:blip r:embed="rId6">
            <a:alphaModFix/>
          </a:blip>
          <a:srcRect/>
          <a:stretch/>
        </p:blipFill>
        <p:spPr>
          <a:xfrm>
            <a:off x="2079575" y="2705100"/>
            <a:ext cx="476250" cy="476250"/>
          </a:xfrm>
          <a:prstGeom prst="rect">
            <a:avLst/>
          </a:prstGeom>
          <a:noFill/>
          <a:ln>
            <a:noFill/>
          </a:ln>
        </p:spPr>
      </p:pic>
      <p:sp>
        <p:nvSpPr>
          <p:cNvPr id="152" name="Google Shape;152;p18"/>
          <p:cNvSpPr txBox="1"/>
          <p:nvPr/>
        </p:nvSpPr>
        <p:spPr>
          <a:xfrm>
            <a:off x="894241" y="3419475"/>
            <a:ext cx="2846918"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a:solidFill>
                  <a:srgbClr val="FFFFFF"/>
                </a:solidFill>
                <a:latin typeface="Urbanist"/>
                <a:ea typeface="Urbanist"/>
                <a:cs typeface="Urbanist"/>
                <a:sym typeface="Urbanist"/>
              </a:rPr>
              <a:t>ReactJS</a:t>
            </a:r>
            <a:endParaRPr/>
          </a:p>
        </p:txBody>
      </p:sp>
      <p:sp>
        <p:nvSpPr>
          <p:cNvPr id="153" name="Google Shape;153;p18"/>
          <p:cNvSpPr txBox="1"/>
          <p:nvPr/>
        </p:nvSpPr>
        <p:spPr>
          <a:xfrm>
            <a:off x="962025" y="3914775"/>
            <a:ext cx="271135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Thư viện UI cốt lõi, kiến trúc Component linh hoạt, Virtual DOM tối ưu hiệu năng.</a:t>
            </a:r>
            <a:endParaRPr/>
          </a:p>
        </p:txBody>
      </p:sp>
      <p:pic>
        <p:nvPicPr>
          <p:cNvPr id="154" name="Google Shape;154;p18" descr="image.png"/>
          <p:cNvPicPr preferRelativeResize="0"/>
          <p:nvPr/>
        </p:nvPicPr>
        <p:blipFill rotWithShape="1">
          <a:blip r:embed="rId7">
            <a:alphaModFix/>
          </a:blip>
          <a:srcRect/>
          <a:stretch/>
        </p:blipFill>
        <p:spPr>
          <a:xfrm>
            <a:off x="5795813" y="2705100"/>
            <a:ext cx="600075" cy="476250"/>
          </a:xfrm>
          <a:prstGeom prst="rect">
            <a:avLst/>
          </a:prstGeom>
          <a:noFill/>
          <a:ln>
            <a:noFill/>
          </a:ln>
        </p:spPr>
      </p:pic>
      <p:sp>
        <p:nvSpPr>
          <p:cNvPr id="155" name="Google Shape;155;p18"/>
          <p:cNvSpPr txBox="1"/>
          <p:nvPr/>
        </p:nvSpPr>
        <p:spPr>
          <a:xfrm>
            <a:off x="4672388" y="3419475"/>
            <a:ext cx="2847074"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a:solidFill>
                  <a:srgbClr val="FFFFFF"/>
                </a:solidFill>
                <a:latin typeface="Urbanist"/>
                <a:ea typeface="Urbanist"/>
                <a:cs typeface="Urbanist"/>
                <a:sym typeface="Urbanist"/>
              </a:rPr>
              <a:t>Context API</a:t>
            </a:r>
            <a:endParaRPr/>
          </a:p>
        </p:txBody>
      </p:sp>
      <p:sp>
        <p:nvSpPr>
          <p:cNvPr id="156" name="Google Shape;156;p18"/>
          <p:cNvSpPr txBox="1"/>
          <p:nvPr/>
        </p:nvSpPr>
        <p:spPr>
          <a:xfrm>
            <a:off x="4740175" y="3914775"/>
            <a:ext cx="2711499"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Quản lý dữ liệu giỏ hàng tập trung, tránh hiện tượng Prop Drilling phức tạp.</a:t>
            </a:r>
            <a:endParaRPr/>
          </a:p>
        </p:txBody>
      </p:sp>
      <p:pic>
        <p:nvPicPr>
          <p:cNvPr id="157" name="Google Shape;157;p18" descr="image.png"/>
          <p:cNvPicPr preferRelativeResize="0"/>
          <p:nvPr/>
        </p:nvPicPr>
        <p:blipFill rotWithShape="1">
          <a:blip r:embed="rId8">
            <a:alphaModFix/>
          </a:blip>
          <a:srcRect/>
          <a:stretch/>
        </p:blipFill>
        <p:spPr>
          <a:xfrm>
            <a:off x="9636025" y="2705100"/>
            <a:ext cx="476250" cy="476250"/>
          </a:xfrm>
          <a:prstGeom prst="rect">
            <a:avLst/>
          </a:prstGeom>
          <a:noFill/>
          <a:ln>
            <a:noFill/>
          </a:ln>
        </p:spPr>
      </p:pic>
      <p:sp>
        <p:nvSpPr>
          <p:cNvPr id="158" name="Google Shape;158;p18"/>
          <p:cNvSpPr txBox="1"/>
          <p:nvPr/>
        </p:nvSpPr>
        <p:spPr>
          <a:xfrm>
            <a:off x="8450691" y="3419475"/>
            <a:ext cx="2846918"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a:solidFill>
                  <a:srgbClr val="FFFFFF"/>
                </a:solidFill>
                <a:latin typeface="Urbanist"/>
                <a:ea typeface="Urbanist"/>
                <a:cs typeface="Urbanist"/>
                <a:sym typeface="Urbanist"/>
              </a:rPr>
              <a:t>Tailwind CSS</a:t>
            </a:r>
            <a:endParaRPr/>
          </a:p>
        </p:txBody>
      </p:sp>
      <p:sp>
        <p:nvSpPr>
          <p:cNvPr id="159" name="Google Shape;159;p18"/>
          <p:cNvSpPr txBox="1"/>
          <p:nvPr/>
        </p:nvSpPr>
        <p:spPr>
          <a:xfrm>
            <a:off x="8518475" y="3914775"/>
            <a:ext cx="271135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Framework CSS hiện đại, tối ưu giao diện Responsive và tốc độ phát triển.</a:t>
            </a:r>
            <a:endParaRPr/>
          </a:p>
        </p:txBody>
      </p:sp>
      <p:sp>
        <p:nvSpPr>
          <p:cNvPr id="160" name="Google Shape;160;p18"/>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GIẢI PHÁP CÔNG NGHỆ LỰA CHỌN</a:t>
            </a:r>
            <a:endParaRPr/>
          </a:p>
        </p:txBody>
      </p:sp>
      <p:sp>
        <p:nvSpPr>
          <p:cNvPr id="161" name="Google Shape;161;p18"/>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5"/>
        <p:cNvGrpSpPr/>
        <p:nvPr/>
      </p:nvGrpSpPr>
      <p:grpSpPr>
        <a:xfrm>
          <a:off x="0" y="0"/>
          <a:ext cx="0" cy="0"/>
          <a:chOff x="0" y="0"/>
          <a:chExt cx="0" cy="0"/>
        </a:xfrm>
      </p:grpSpPr>
      <p:pic>
        <p:nvPicPr>
          <p:cNvPr id="166" name="Google Shape;166;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7" name="Google Shape;167;p19"/>
          <p:cNvSpPr txBox="1"/>
          <p:nvPr/>
        </p:nvSpPr>
        <p:spPr>
          <a:xfrm>
            <a:off x="295275" y="2371725"/>
            <a:ext cx="11601450"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6B6D4"/>
                </a:solidFill>
                <a:latin typeface="Urbanist"/>
                <a:ea typeface="Urbanist"/>
                <a:cs typeface="Urbanist"/>
                <a:sym typeface="Urbanist"/>
              </a:rPr>
              <a:t>CHƯƠNG 2</a:t>
            </a:r>
            <a:endParaRPr/>
          </a:p>
        </p:txBody>
      </p:sp>
      <p:sp>
        <p:nvSpPr>
          <p:cNvPr id="168" name="Google Shape;168;p19"/>
          <p:cNvSpPr txBox="1"/>
          <p:nvPr/>
        </p:nvSpPr>
        <p:spPr>
          <a:xfrm>
            <a:off x="295275" y="2828925"/>
            <a:ext cx="11601450"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06B6D4"/>
                </a:solidFill>
                <a:latin typeface="Urbanist"/>
                <a:ea typeface="Urbanist"/>
                <a:cs typeface="Urbanist"/>
                <a:sym typeface="Urbanist"/>
              </a:rPr>
              <a:t>NGHIÊN CỨU LÝ THUYẾT</a:t>
            </a:r>
            <a:endParaRPr/>
          </a:p>
        </p:txBody>
      </p:sp>
      <p:sp>
        <p:nvSpPr>
          <p:cNvPr id="169" name="Google Shape;169;p19"/>
          <p:cNvSpPr/>
          <p:nvPr/>
        </p:nvSpPr>
        <p:spPr>
          <a:xfrm>
            <a:off x="5381625" y="4048125"/>
            <a:ext cx="1428750" cy="5715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3"/>
        <p:cNvGrpSpPr/>
        <p:nvPr/>
      </p:nvGrpSpPr>
      <p:grpSpPr>
        <a:xfrm>
          <a:off x="0" y="0"/>
          <a:ext cx="0" cy="0"/>
          <a:chOff x="0" y="0"/>
          <a:chExt cx="0" cy="0"/>
        </a:xfrm>
      </p:grpSpPr>
      <p:pic>
        <p:nvPicPr>
          <p:cNvPr id="174" name="Google Shape;17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5" name="Google Shape;175;p20" descr="image.png"/>
          <p:cNvPicPr preferRelativeResize="0"/>
          <p:nvPr/>
        </p:nvPicPr>
        <p:blipFill rotWithShape="1">
          <a:blip r:embed="rId4">
            <a:alphaModFix/>
          </a:blip>
          <a:srcRect/>
          <a:stretch/>
        </p:blipFill>
        <p:spPr>
          <a:xfrm>
            <a:off x="7429500" y="2195512"/>
            <a:ext cx="4191000" cy="3333750"/>
          </a:xfrm>
          <a:prstGeom prst="rect">
            <a:avLst/>
          </a:prstGeom>
          <a:noFill/>
          <a:ln>
            <a:noFill/>
          </a:ln>
        </p:spPr>
      </p:pic>
      <p:pic>
        <p:nvPicPr>
          <p:cNvPr id="176" name="Google Shape;176;p20" descr="image.png"/>
          <p:cNvPicPr preferRelativeResize="0"/>
          <p:nvPr/>
        </p:nvPicPr>
        <p:blipFill rotWithShape="1">
          <a:blip r:embed="rId5">
            <a:alphaModFix/>
          </a:blip>
          <a:srcRect/>
          <a:stretch/>
        </p:blipFill>
        <p:spPr>
          <a:xfrm>
            <a:off x="571500" y="3612505"/>
            <a:ext cx="3048000" cy="1585466"/>
          </a:xfrm>
          <a:prstGeom prst="rect">
            <a:avLst/>
          </a:prstGeom>
          <a:noFill/>
          <a:ln>
            <a:noFill/>
          </a:ln>
        </p:spPr>
      </p:pic>
      <p:pic>
        <p:nvPicPr>
          <p:cNvPr id="177" name="Google Shape;177;p20" descr="image.png"/>
          <p:cNvPicPr preferRelativeResize="0"/>
          <p:nvPr/>
        </p:nvPicPr>
        <p:blipFill rotWithShape="1">
          <a:blip r:embed="rId6">
            <a:alphaModFix/>
          </a:blip>
          <a:srcRect/>
          <a:stretch/>
        </p:blipFill>
        <p:spPr>
          <a:xfrm>
            <a:off x="3810000" y="3612505"/>
            <a:ext cx="3048000" cy="1585466"/>
          </a:xfrm>
          <a:prstGeom prst="rect">
            <a:avLst/>
          </a:prstGeom>
          <a:noFill/>
          <a:ln>
            <a:noFill/>
          </a:ln>
        </p:spPr>
      </p:pic>
      <p:sp>
        <p:nvSpPr>
          <p:cNvPr id="178" name="Google Shape;178;p20"/>
          <p:cNvSpPr txBox="1"/>
          <p:nvPr/>
        </p:nvSpPr>
        <p:spPr>
          <a:xfrm>
            <a:off x="571500" y="2717155"/>
            <a:ext cx="62865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ReactJS là một thư viện JavaScript mã nguồn mở được phát triển bởi </a:t>
            </a:r>
            <a:r>
              <a:rPr lang="en-US" sz="1500" b="1" i="0" u="none" strike="noStrike" cap="none">
                <a:solidFill>
                  <a:srgbClr val="06B6D4"/>
                </a:solidFill>
                <a:latin typeface="Inter"/>
                <a:ea typeface="Inter"/>
                <a:cs typeface="Inter"/>
                <a:sym typeface="Inter"/>
              </a:rPr>
              <a:t>Meta (Facebook)</a:t>
            </a:r>
            <a:r>
              <a:rPr lang="en-US" sz="1500" b="0" i="0" u="none" strike="noStrike" cap="none">
                <a:solidFill>
                  <a:srgbClr val="CBD5E1"/>
                </a:solidFill>
                <a:latin typeface="Inter"/>
                <a:ea typeface="Inter"/>
                <a:cs typeface="Inter"/>
                <a:sym typeface="Inter"/>
              </a:rPr>
              <a:t> dùng để xây dựng giao diện người dùng.</a:t>
            </a:r>
            <a:endParaRPr/>
          </a:p>
        </p:txBody>
      </p:sp>
      <p:pic>
        <p:nvPicPr>
          <p:cNvPr id="179" name="Google Shape;179;p20" descr="image.png"/>
          <p:cNvPicPr preferRelativeResize="0"/>
          <p:nvPr/>
        </p:nvPicPr>
        <p:blipFill rotWithShape="1">
          <a:blip r:embed="rId7">
            <a:alphaModFix/>
          </a:blip>
          <a:srcRect/>
          <a:stretch/>
        </p:blipFill>
        <p:spPr>
          <a:xfrm>
            <a:off x="7439025" y="2205037"/>
            <a:ext cx="4171950" cy="3314700"/>
          </a:xfrm>
          <a:prstGeom prst="rect">
            <a:avLst/>
          </a:prstGeom>
          <a:noFill/>
          <a:ln>
            <a:noFill/>
          </a:ln>
        </p:spPr>
      </p:pic>
      <p:sp>
        <p:nvSpPr>
          <p:cNvPr id="180" name="Google Shape;180;p20"/>
          <p:cNvSpPr txBox="1"/>
          <p:nvPr/>
        </p:nvSpPr>
        <p:spPr>
          <a:xfrm>
            <a:off x="771525" y="4015085"/>
            <a:ext cx="2780347"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6B6D4"/>
                </a:solidFill>
                <a:latin typeface="Inter"/>
                <a:ea typeface="Inter"/>
                <a:cs typeface="Inter"/>
                <a:sym typeface="Inter"/>
              </a:rPr>
              <a:t>Cơ chế Declarative</a:t>
            </a:r>
            <a:endParaRPr/>
          </a:p>
        </p:txBody>
      </p:sp>
      <p:sp>
        <p:nvSpPr>
          <p:cNvPr id="181" name="Google Shape;181;p20"/>
          <p:cNvSpPr txBox="1"/>
          <p:nvPr/>
        </p:nvSpPr>
        <p:spPr>
          <a:xfrm>
            <a:off x="771525" y="4357985"/>
            <a:ext cx="26479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Giúp code dễ đọc, dễ hiểu và dự đoán được trạng thái UI.</a:t>
            </a:r>
            <a:endParaRPr/>
          </a:p>
        </p:txBody>
      </p:sp>
      <p:sp>
        <p:nvSpPr>
          <p:cNvPr id="182" name="Google Shape;182;p20"/>
          <p:cNvSpPr txBox="1"/>
          <p:nvPr/>
        </p:nvSpPr>
        <p:spPr>
          <a:xfrm>
            <a:off x="4010025" y="4015085"/>
            <a:ext cx="2780347"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6B6D4"/>
                </a:solidFill>
                <a:latin typeface="Inter"/>
                <a:ea typeface="Inter"/>
                <a:cs typeface="Inter"/>
                <a:sym typeface="Inter"/>
              </a:rPr>
              <a:t>Tính Tái Sử Dụng</a:t>
            </a:r>
            <a:endParaRPr/>
          </a:p>
        </p:txBody>
      </p:sp>
      <p:sp>
        <p:nvSpPr>
          <p:cNvPr id="183" name="Google Shape;183;p20"/>
          <p:cNvSpPr txBox="1"/>
          <p:nvPr/>
        </p:nvSpPr>
        <p:spPr>
          <a:xfrm>
            <a:off x="4010025" y="4357985"/>
            <a:ext cx="26479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Xây dựng các Component độc lập và lắp ghép linh hoạt.</a:t>
            </a:r>
            <a:endParaRPr/>
          </a:p>
        </p:txBody>
      </p:sp>
      <p:sp>
        <p:nvSpPr>
          <p:cNvPr id="184" name="Google Shape;184;p20"/>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TÌM HIỂU VỀ REACTJS</a:t>
            </a:r>
            <a:endParaRPr/>
          </a:p>
        </p:txBody>
      </p:sp>
      <p:sp>
        <p:nvSpPr>
          <p:cNvPr id="185" name="Google Shape;185;p20"/>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89"/>
        <p:cNvGrpSpPr/>
        <p:nvPr/>
      </p:nvGrpSpPr>
      <p:grpSpPr>
        <a:xfrm>
          <a:off x="0" y="0"/>
          <a:ext cx="0" cy="0"/>
          <a:chOff x="0" y="0"/>
          <a:chExt cx="0" cy="0"/>
        </a:xfrm>
      </p:grpSpPr>
      <p:pic>
        <p:nvPicPr>
          <p:cNvPr id="190" name="Google Shape;19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3" name="Google Shape;193;p21"/>
          <p:cNvSpPr txBox="1"/>
          <p:nvPr/>
        </p:nvSpPr>
        <p:spPr>
          <a:xfrm>
            <a:off x="6381750" y="2362200"/>
            <a:ext cx="550068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FFFFF"/>
                </a:solidFill>
                <a:latin typeface="Urbanist"/>
                <a:ea typeface="Urbanist"/>
                <a:cs typeface="Urbanist"/>
                <a:sym typeface="Urbanist"/>
              </a:rPr>
              <a:t>Tại sao Virtual DOM lại nhanh?</a:t>
            </a:r>
            <a:endParaRPr/>
          </a:p>
        </p:txBody>
      </p:sp>
      <p:sp>
        <p:nvSpPr>
          <p:cNvPr id="194" name="Google Shape;194;p21"/>
          <p:cNvSpPr txBox="1"/>
          <p:nvPr/>
        </p:nvSpPr>
        <p:spPr>
          <a:xfrm>
            <a:off x="6381750" y="2771775"/>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Thay vì tác động trực tiếp lên Real DOM (gây tốn tài nguyên), React tạo ra một bản sao nháp trong bộ nhớ.</a:t>
            </a:r>
            <a:endParaRPr/>
          </a:p>
        </p:txBody>
      </p:sp>
      <p:sp>
        <p:nvSpPr>
          <p:cNvPr id="195" name="Google Shape;195;p21"/>
          <p:cNvSpPr txBox="1"/>
          <p:nvPr/>
        </p:nvSpPr>
        <p:spPr>
          <a:xfrm>
            <a:off x="7143750" y="3571875"/>
            <a:ext cx="4476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Diffing Algorithm:</a:t>
            </a:r>
            <a:r>
              <a:rPr lang="en-US" sz="1500" b="0" i="0" u="none" strike="noStrike" cap="none">
                <a:solidFill>
                  <a:srgbClr val="CBD5E1"/>
                </a:solidFill>
                <a:latin typeface="Inter"/>
                <a:ea typeface="Inter"/>
                <a:cs typeface="Inter"/>
                <a:sym typeface="Inter"/>
              </a:rPr>
              <a:t> So sánh bản nháp mới và cũ.</a:t>
            </a:r>
            <a:endParaRPr/>
          </a:p>
        </p:txBody>
      </p:sp>
      <p:sp>
        <p:nvSpPr>
          <p:cNvPr id="196" name="Google Shape;196;p21"/>
          <p:cNvSpPr txBox="1"/>
          <p:nvPr/>
        </p:nvSpPr>
        <p:spPr>
          <a:xfrm>
            <a:off x="7143750" y="4067175"/>
            <a:ext cx="4476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Batching Update:</a:t>
            </a:r>
            <a:r>
              <a:rPr lang="en-US" sz="1500" b="0" i="0" u="none" strike="noStrike" cap="none">
                <a:solidFill>
                  <a:srgbClr val="CBD5E1"/>
                </a:solidFill>
                <a:latin typeface="Inter"/>
                <a:ea typeface="Inter"/>
                <a:cs typeface="Inter"/>
                <a:sym typeface="Inter"/>
              </a:rPr>
              <a:t> Chỉ cập nhật đúng phần tử thay đổi lên màn hình.</a:t>
            </a:r>
            <a:endParaRPr/>
          </a:p>
        </p:txBody>
      </p:sp>
      <p:sp>
        <p:nvSpPr>
          <p:cNvPr id="197" name="Google Shape;197;p21"/>
          <p:cNvSpPr txBox="1"/>
          <p:nvPr/>
        </p:nvSpPr>
        <p:spPr>
          <a:xfrm>
            <a:off x="7143750" y="4867275"/>
            <a:ext cx="4476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Giảm thiểu tối đa CPU và độ trễ phản hồi.</a:t>
            </a:r>
            <a:endParaRPr/>
          </a:p>
        </p:txBody>
      </p:sp>
      <p:sp>
        <p:nvSpPr>
          <p:cNvPr id="198" name="Google Shape;198;p21"/>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CƠ CHẾ VIRTUAL DOM</a:t>
            </a:r>
            <a:endParaRPr/>
          </a:p>
        </p:txBody>
      </p:sp>
      <p:sp>
        <p:nvSpPr>
          <p:cNvPr id="199" name="Google Shape;199;p21"/>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0" name="Google Shape;200;p21" descr="image.png"/>
          <p:cNvPicPr preferRelativeResize="0"/>
          <p:nvPr/>
        </p:nvPicPr>
        <p:blipFill rotWithShape="1">
          <a:blip r:embed="rId4">
            <a:alphaModFix/>
          </a:blip>
          <a:srcRect/>
          <a:stretch/>
        </p:blipFill>
        <p:spPr>
          <a:xfrm>
            <a:off x="6762750" y="3571875"/>
            <a:ext cx="190500" cy="200025"/>
          </a:xfrm>
          <a:prstGeom prst="rect">
            <a:avLst/>
          </a:prstGeom>
          <a:noFill/>
          <a:ln>
            <a:noFill/>
          </a:ln>
        </p:spPr>
      </p:pic>
      <p:pic>
        <p:nvPicPr>
          <p:cNvPr id="201" name="Google Shape;201;p21" descr="image.png"/>
          <p:cNvPicPr preferRelativeResize="0"/>
          <p:nvPr/>
        </p:nvPicPr>
        <p:blipFill rotWithShape="1">
          <a:blip r:embed="rId4">
            <a:alphaModFix/>
          </a:blip>
          <a:srcRect/>
          <a:stretch/>
        </p:blipFill>
        <p:spPr>
          <a:xfrm>
            <a:off x="6762750" y="4067175"/>
            <a:ext cx="190500" cy="200025"/>
          </a:xfrm>
          <a:prstGeom prst="rect">
            <a:avLst/>
          </a:prstGeom>
          <a:noFill/>
          <a:ln>
            <a:noFill/>
          </a:ln>
        </p:spPr>
      </p:pic>
      <p:pic>
        <p:nvPicPr>
          <p:cNvPr id="202" name="Google Shape;202;p21" descr="image.png"/>
          <p:cNvPicPr preferRelativeResize="0"/>
          <p:nvPr/>
        </p:nvPicPr>
        <p:blipFill rotWithShape="1">
          <a:blip r:embed="rId4">
            <a:alphaModFix/>
          </a:blip>
          <a:srcRect/>
          <a:stretch/>
        </p:blipFill>
        <p:spPr>
          <a:xfrm>
            <a:off x="6762750" y="4867275"/>
            <a:ext cx="190500" cy="200025"/>
          </a:xfrm>
          <a:prstGeom prst="rect">
            <a:avLst/>
          </a:prstGeom>
          <a:noFill/>
          <a:ln>
            <a:noFill/>
          </a:ln>
        </p:spPr>
      </p:pic>
      <p:pic>
        <p:nvPicPr>
          <p:cNvPr id="1028" name="Picture 1">
            <a:extLst>
              <a:ext uri="{FF2B5EF4-FFF2-40B4-BE49-F238E27FC236}">
                <a16:creationId xmlns:a16="http://schemas.microsoft.com/office/drawing/2014/main" id="{8FDC3DC2-2141-2A32-7B78-62C2B44AFF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138" y="2181225"/>
            <a:ext cx="57372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6"/>
        <p:cNvGrpSpPr/>
        <p:nvPr/>
      </p:nvGrpSpPr>
      <p:grpSpPr>
        <a:xfrm>
          <a:off x="0" y="0"/>
          <a:ext cx="0" cy="0"/>
          <a:chOff x="0" y="0"/>
          <a:chExt cx="0" cy="0"/>
        </a:xfrm>
      </p:grpSpPr>
      <p:pic>
        <p:nvPicPr>
          <p:cNvPr id="207" name="Google Shape;207;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8" name="Google Shape;208;p22" descr="image.png"/>
          <p:cNvPicPr preferRelativeResize="0"/>
          <p:nvPr/>
        </p:nvPicPr>
        <p:blipFill rotWithShape="1">
          <a:blip r:embed="rId4">
            <a:alphaModFix/>
          </a:blip>
          <a:srcRect/>
          <a:stretch/>
        </p:blipFill>
        <p:spPr>
          <a:xfrm>
            <a:off x="571500" y="3634680"/>
            <a:ext cx="3492400" cy="1659135"/>
          </a:xfrm>
          <a:prstGeom prst="rect">
            <a:avLst/>
          </a:prstGeom>
          <a:noFill/>
          <a:ln>
            <a:noFill/>
          </a:ln>
        </p:spPr>
      </p:pic>
      <p:pic>
        <p:nvPicPr>
          <p:cNvPr id="209" name="Google Shape;209;p22" descr="image.png"/>
          <p:cNvPicPr preferRelativeResize="0"/>
          <p:nvPr/>
        </p:nvPicPr>
        <p:blipFill rotWithShape="1">
          <a:blip r:embed="rId5">
            <a:alphaModFix/>
          </a:blip>
          <a:srcRect/>
          <a:stretch/>
        </p:blipFill>
        <p:spPr>
          <a:xfrm>
            <a:off x="4349650" y="3634680"/>
            <a:ext cx="3492549" cy="1659135"/>
          </a:xfrm>
          <a:prstGeom prst="rect">
            <a:avLst/>
          </a:prstGeom>
          <a:noFill/>
          <a:ln>
            <a:noFill/>
          </a:ln>
        </p:spPr>
      </p:pic>
      <p:pic>
        <p:nvPicPr>
          <p:cNvPr id="210" name="Google Shape;210;p22" descr="image.png"/>
          <p:cNvPicPr preferRelativeResize="0"/>
          <p:nvPr/>
        </p:nvPicPr>
        <p:blipFill rotWithShape="1">
          <a:blip r:embed="rId4">
            <a:alphaModFix/>
          </a:blip>
          <a:srcRect/>
          <a:stretch/>
        </p:blipFill>
        <p:spPr>
          <a:xfrm>
            <a:off x="8127950" y="3634680"/>
            <a:ext cx="3492400" cy="1659135"/>
          </a:xfrm>
          <a:prstGeom prst="rect">
            <a:avLst/>
          </a:prstGeom>
          <a:noFill/>
          <a:ln>
            <a:noFill/>
          </a:ln>
        </p:spPr>
      </p:pic>
      <p:sp>
        <p:nvSpPr>
          <p:cNvPr id="211" name="Google Shape;211;p22"/>
          <p:cNvSpPr txBox="1"/>
          <p:nvPr/>
        </p:nvSpPr>
        <p:spPr>
          <a:xfrm>
            <a:off x="571500" y="2659409"/>
            <a:ext cx="11049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4A3B8"/>
                </a:solidFill>
                <a:latin typeface="Inter"/>
                <a:ea typeface="Inter"/>
                <a:cs typeface="Inter"/>
                <a:sym typeface="Inter"/>
              </a:rPr>
              <a:t>Tư duy "Mọi thứ là Component"</a:t>
            </a:r>
            <a:endParaRPr/>
          </a:p>
        </p:txBody>
      </p:sp>
      <p:sp>
        <p:nvSpPr>
          <p:cNvPr id="212" name="Google Shape;212;p22"/>
          <p:cNvSpPr txBox="1"/>
          <p:nvPr/>
        </p:nvSpPr>
        <p:spPr>
          <a:xfrm>
            <a:off x="819150" y="3882330"/>
            <a:ext cx="2997100"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6B6D4"/>
                </a:solidFill>
                <a:latin typeface="Inter"/>
                <a:ea typeface="Inter"/>
                <a:cs typeface="Inter"/>
                <a:sym typeface="Inter"/>
              </a:rPr>
              <a:t>Đóng Gói</a:t>
            </a:r>
            <a:endParaRPr/>
          </a:p>
        </p:txBody>
      </p:sp>
      <p:sp>
        <p:nvSpPr>
          <p:cNvPr id="213" name="Google Shape;213;p22"/>
          <p:cNvSpPr txBox="1"/>
          <p:nvPr/>
        </p:nvSpPr>
        <p:spPr>
          <a:xfrm>
            <a:off x="819150" y="4406205"/>
            <a:ext cx="29971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Mỗi thẻ sản phẩm, nút bấm là một đơn vị mã nguồn độc lập.</a:t>
            </a:r>
            <a:endParaRPr/>
          </a:p>
        </p:txBody>
      </p:sp>
      <p:sp>
        <p:nvSpPr>
          <p:cNvPr id="214" name="Google Shape;214;p22"/>
          <p:cNvSpPr txBox="1"/>
          <p:nvPr/>
        </p:nvSpPr>
        <p:spPr>
          <a:xfrm>
            <a:off x="4597300" y="3882330"/>
            <a:ext cx="2997249"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6B6D4"/>
                </a:solidFill>
                <a:latin typeface="Inter"/>
                <a:ea typeface="Inter"/>
                <a:cs typeface="Inter"/>
                <a:sym typeface="Inter"/>
              </a:rPr>
              <a:t>Tái Sử Dụng</a:t>
            </a:r>
            <a:endParaRPr/>
          </a:p>
        </p:txBody>
      </p:sp>
      <p:sp>
        <p:nvSpPr>
          <p:cNvPr id="215" name="Google Shape;215;p22"/>
          <p:cNvSpPr txBox="1"/>
          <p:nvPr/>
        </p:nvSpPr>
        <p:spPr>
          <a:xfrm>
            <a:off x="4597300" y="4406205"/>
            <a:ext cx="2997249"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Viết code 1 lần, sử dụng ở nhiều nơi trên toàn bộ hệ thống.</a:t>
            </a:r>
            <a:endParaRPr/>
          </a:p>
        </p:txBody>
      </p:sp>
      <p:sp>
        <p:nvSpPr>
          <p:cNvPr id="216" name="Google Shape;216;p22"/>
          <p:cNvSpPr txBox="1"/>
          <p:nvPr/>
        </p:nvSpPr>
        <p:spPr>
          <a:xfrm>
            <a:off x="8375600" y="3882330"/>
            <a:ext cx="2997100"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6B6D4"/>
                </a:solidFill>
                <a:latin typeface="Inter"/>
                <a:ea typeface="Inter"/>
                <a:cs typeface="Inter"/>
                <a:sym typeface="Inter"/>
              </a:rPr>
              <a:t>Dễ Bảo Trì</a:t>
            </a:r>
            <a:endParaRPr/>
          </a:p>
        </p:txBody>
      </p:sp>
      <p:sp>
        <p:nvSpPr>
          <p:cNvPr id="217" name="Google Shape;217;p22"/>
          <p:cNvSpPr txBox="1"/>
          <p:nvPr/>
        </p:nvSpPr>
        <p:spPr>
          <a:xfrm>
            <a:off x="8375600" y="4406205"/>
            <a:ext cx="29971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Sửa giao diện ở 1 Component, toàn bộ trang web tự đồng bộ.</a:t>
            </a:r>
            <a:endParaRPr/>
          </a:p>
        </p:txBody>
      </p:sp>
      <p:sp>
        <p:nvSpPr>
          <p:cNvPr id="218" name="Google Shape;218;p22"/>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KIẾN TRÚC COMPONENT-BASED</a:t>
            </a:r>
            <a:endParaRPr/>
          </a:p>
        </p:txBody>
      </p:sp>
      <p:sp>
        <p:nvSpPr>
          <p:cNvPr id="219" name="Google Shape;219;p22"/>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3"/>
        <p:cNvGrpSpPr/>
        <p:nvPr/>
      </p:nvGrpSpPr>
      <p:grpSpPr>
        <a:xfrm>
          <a:off x="0" y="0"/>
          <a:ext cx="0" cy="0"/>
          <a:chOff x="0" y="0"/>
          <a:chExt cx="0" cy="0"/>
        </a:xfrm>
      </p:grpSpPr>
      <p:pic>
        <p:nvPicPr>
          <p:cNvPr id="224" name="Google Shape;224;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5" name="Google Shape;225;p23" descr="image.png"/>
          <p:cNvPicPr preferRelativeResize="0"/>
          <p:nvPr/>
        </p:nvPicPr>
        <p:blipFill rotWithShape="1">
          <a:blip r:embed="rId4">
            <a:alphaModFix/>
          </a:blip>
          <a:srcRect/>
          <a:stretch/>
        </p:blipFill>
        <p:spPr>
          <a:xfrm>
            <a:off x="6381750" y="1957387"/>
            <a:ext cx="5238750" cy="3810000"/>
          </a:xfrm>
          <a:prstGeom prst="rect">
            <a:avLst/>
          </a:prstGeom>
          <a:noFill/>
          <a:ln>
            <a:noFill/>
          </a:ln>
        </p:spPr>
      </p:pic>
      <p:sp>
        <p:nvSpPr>
          <p:cNvPr id="226" name="Google Shape;226;p23"/>
          <p:cNvSpPr txBox="1"/>
          <p:nvPr/>
        </p:nvSpPr>
        <p:spPr>
          <a:xfrm>
            <a:off x="571500" y="2462212"/>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Hooks là các hàm đặc biệt giúp "móc" vào các tính năng của React mà không cần dùng Class Components.</a:t>
            </a:r>
            <a:endParaRPr/>
          </a:p>
        </p:txBody>
      </p:sp>
      <p:pic>
        <p:nvPicPr>
          <p:cNvPr id="227" name="Google Shape;227;p23" descr="image.png"/>
          <p:cNvPicPr preferRelativeResize="0"/>
          <p:nvPr/>
        </p:nvPicPr>
        <p:blipFill rotWithShape="1">
          <a:blip r:embed="rId5">
            <a:alphaModFix/>
          </a:blip>
          <a:srcRect/>
          <a:stretch/>
        </p:blipFill>
        <p:spPr>
          <a:xfrm>
            <a:off x="6391275" y="1966912"/>
            <a:ext cx="5219700" cy="3790950"/>
          </a:xfrm>
          <a:prstGeom prst="rect">
            <a:avLst/>
          </a:prstGeom>
          <a:noFill/>
          <a:ln>
            <a:noFill/>
          </a:ln>
        </p:spPr>
      </p:pic>
      <p:sp>
        <p:nvSpPr>
          <p:cNvPr id="228" name="Google Shape;228;p23"/>
          <p:cNvSpPr txBox="1"/>
          <p:nvPr/>
        </p:nvSpPr>
        <p:spPr>
          <a:xfrm>
            <a:off x="1333500" y="3357562"/>
            <a:ext cx="4476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useState:</a:t>
            </a:r>
            <a:r>
              <a:rPr lang="en-US" sz="1500" b="0" i="0" u="none" strike="noStrike" cap="none">
                <a:solidFill>
                  <a:srgbClr val="CBD5E1"/>
                </a:solidFill>
                <a:latin typeface="Inter"/>
                <a:ea typeface="Inter"/>
                <a:cs typeface="Inter"/>
                <a:sym typeface="Inter"/>
              </a:rPr>
              <a:t> Quản lý trạng thái (như số lượng giỏ hàng).</a:t>
            </a:r>
            <a:endParaRPr/>
          </a:p>
        </p:txBody>
      </p:sp>
      <p:sp>
        <p:nvSpPr>
          <p:cNvPr id="229" name="Google Shape;229;p23"/>
          <p:cNvSpPr txBox="1"/>
          <p:nvPr/>
        </p:nvSpPr>
        <p:spPr>
          <a:xfrm>
            <a:off x="1333500" y="4157662"/>
            <a:ext cx="4476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useEffect:</a:t>
            </a:r>
            <a:r>
              <a:rPr lang="en-US" sz="1500" b="0" i="0" u="none" strike="noStrike" cap="none">
                <a:solidFill>
                  <a:srgbClr val="CBD5E1"/>
                </a:solidFill>
                <a:latin typeface="Inter"/>
                <a:ea typeface="Inter"/>
                <a:cs typeface="Inter"/>
                <a:sym typeface="Inter"/>
              </a:rPr>
              <a:t> Xử lý các tác vụ bên lề (gọi API, LocalStorage).</a:t>
            </a:r>
            <a:endParaRPr/>
          </a:p>
        </p:txBody>
      </p:sp>
      <p:sp>
        <p:nvSpPr>
          <p:cNvPr id="230" name="Google Shape;230;p23"/>
          <p:cNvSpPr txBox="1"/>
          <p:nvPr/>
        </p:nvSpPr>
        <p:spPr>
          <a:xfrm>
            <a:off x="1333500" y="4957762"/>
            <a:ext cx="4476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useContext:</a:t>
            </a:r>
            <a:r>
              <a:rPr lang="en-US" sz="1500" b="0" i="0" u="none" strike="noStrike" cap="none">
                <a:solidFill>
                  <a:srgbClr val="CBD5E1"/>
                </a:solidFill>
                <a:latin typeface="Inter"/>
                <a:ea typeface="Inter"/>
                <a:cs typeface="Inter"/>
                <a:sym typeface="Inter"/>
              </a:rPr>
              <a:t> Tiếp cận dữ liệu toàn cục dễ dàng.</a:t>
            </a:r>
            <a:endParaRPr/>
          </a:p>
        </p:txBody>
      </p:sp>
      <p:sp>
        <p:nvSpPr>
          <p:cNvPr id="231" name="Google Shape;231;p23"/>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SỨC MẠNH CỦA REACT HOOKS</a:t>
            </a:r>
            <a:endParaRPr/>
          </a:p>
        </p:txBody>
      </p:sp>
      <p:sp>
        <p:nvSpPr>
          <p:cNvPr id="232" name="Google Shape;232;p23"/>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3" name="Google Shape;233;p23" descr="image.png"/>
          <p:cNvPicPr preferRelativeResize="0"/>
          <p:nvPr/>
        </p:nvPicPr>
        <p:blipFill rotWithShape="1">
          <a:blip r:embed="rId6">
            <a:alphaModFix/>
          </a:blip>
          <a:srcRect/>
          <a:stretch/>
        </p:blipFill>
        <p:spPr>
          <a:xfrm>
            <a:off x="952500" y="3357562"/>
            <a:ext cx="190500" cy="200025"/>
          </a:xfrm>
          <a:prstGeom prst="rect">
            <a:avLst/>
          </a:prstGeom>
          <a:noFill/>
          <a:ln>
            <a:noFill/>
          </a:ln>
        </p:spPr>
      </p:pic>
      <p:pic>
        <p:nvPicPr>
          <p:cNvPr id="234" name="Google Shape;234;p23" descr="image.png"/>
          <p:cNvPicPr preferRelativeResize="0"/>
          <p:nvPr/>
        </p:nvPicPr>
        <p:blipFill rotWithShape="1">
          <a:blip r:embed="rId6">
            <a:alphaModFix/>
          </a:blip>
          <a:srcRect/>
          <a:stretch/>
        </p:blipFill>
        <p:spPr>
          <a:xfrm>
            <a:off x="952500" y="4157662"/>
            <a:ext cx="190500" cy="200025"/>
          </a:xfrm>
          <a:prstGeom prst="rect">
            <a:avLst/>
          </a:prstGeom>
          <a:noFill/>
          <a:ln>
            <a:noFill/>
          </a:ln>
        </p:spPr>
      </p:pic>
      <p:pic>
        <p:nvPicPr>
          <p:cNvPr id="235" name="Google Shape;235;p23" descr="image.png"/>
          <p:cNvPicPr preferRelativeResize="0"/>
          <p:nvPr/>
        </p:nvPicPr>
        <p:blipFill rotWithShape="1">
          <a:blip r:embed="rId6">
            <a:alphaModFix/>
          </a:blip>
          <a:srcRect/>
          <a:stretch/>
        </p:blipFill>
        <p:spPr>
          <a:xfrm>
            <a:off x="952500" y="4957762"/>
            <a:ext cx="190500" cy="200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9"/>
        <p:cNvGrpSpPr/>
        <p:nvPr/>
      </p:nvGrpSpPr>
      <p:grpSpPr>
        <a:xfrm>
          <a:off x="0" y="0"/>
          <a:ext cx="0" cy="0"/>
          <a:chOff x="0" y="0"/>
          <a:chExt cx="0" cy="0"/>
        </a:xfrm>
      </p:grpSpPr>
      <p:pic>
        <p:nvPicPr>
          <p:cNvPr id="240" name="Google Shape;240;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1" name="Google Shape;241;p24" descr="image.png"/>
          <p:cNvPicPr preferRelativeResize="0"/>
          <p:nvPr/>
        </p:nvPicPr>
        <p:blipFill rotWithShape="1">
          <a:blip r:embed="rId4">
            <a:alphaModFix/>
          </a:blip>
          <a:srcRect/>
          <a:stretch/>
        </p:blipFill>
        <p:spPr>
          <a:xfrm>
            <a:off x="571500" y="2274689"/>
            <a:ext cx="5238750" cy="2108596"/>
          </a:xfrm>
          <a:prstGeom prst="rect">
            <a:avLst/>
          </a:prstGeom>
          <a:noFill/>
          <a:ln>
            <a:noFill/>
          </a:ln>
        </p:spPr>
      </p:pic>
      <p:pic>
        <p:nvPicPr>
          <p:cNvPr id="242" name="Google Shape;242;p24" descr="image.png"/>
          <p:cNvPicPr preferRelativeResize="0"/>
          <p:nvPr/>
        </p:nvPicPr>
        <p:blipFill rotWithShape="1">
          <a:blip r:embed="rId5">
            <a:alphaModFix/>
          </a:blip>
          <a:srcRect/>
          <a:stretch/>
        </p:blipFill>
        <p:spPr>
          <a:xfrm>
            <a:off x="6381750" y="2274689"/>
            <a:ext cx="5238750" cy="2108596"/>
          </a:xfrm>
          <a:prstGeom prst="rect">
            <a:avLst/>
          </a:prstGeom>
          <a:noFill/>
          <a:ln>
            <a:noFill/>
          </a:ln>
        </p:spPr>
      </p:pic>
      <p:sp>
        <p:nvSpPr>
          <p:cNvPr id="243" name="Google Shape;243;p24"/>
          <p:cNvSpPr txBox="1"/>
          <p:nvPr/>
        </p:nvSpPr>
        <p:spPr>
          <a:xfrm>
            <a:off x="571500" y="4954785"/>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Phù hợp tuyệt vời cho logic </a:t>
            </a:r>
            <a:r>
              <a:rPr lang="en-US" sz="1500" b="1" i="0" u="none" strike="noStrike" cap="none">
                <a:solidFill>
                  <a:srgbClr val="CBD5E1"/>
                </a:solidFill>
                <a:latin typeface="Inter"/>
                <a:ea typeface="Inter"/>
                <a:cs typeface="Inter"/>
                <a:sym typeface="Inter"/>
              </a:rPr>
              <a:t>Giỏ Hàng</a:t>
            </a:r>
            <a:r>
              <a:rPr lang="en-US" sz="1500" b="0" i="0" u="none" strike="noStrike" cap="none">
                <a:solidFill>
                  <a:srgbClr val="CBD5E1"/>
                </a:solidFill>
                <a:latin typeface="Inter"/>
                <a:ea typeface="Inter"/>
                <a:cs typeface="Inter"/>
                <a:sym typeface="Inter"/>
              </a:rPr>
              <a:t> và </a:t>
            </a:r>
            <a:r>
              <a:rPr lang="en-US" sz="1500" b="1" i="0" u="none" strike="noStrike" cap="none">
                <a:solidFill>
                  <a:srgbClr val="CBD5E1"/>
                </a:solidFill>
                <a:latin typeface="Inter"/>
                <a:ea typeface="Inter"/>
                <a:cs typeface="Inter"/>
                <a:sym typeface="Inter"/>
              </a:rPr>
              <a:t>Thông tin người dùng</a:t>
            </a:r>
            <a:r>
              <a:rPr lang="en-US" sz="1500" b="0" i="0" u="none" strike="noStrike" cap="none">
                <a:solidFill>
                  <a:srgbClr val="CBD5E1"/>
                </a:solidFill>
                <a:latin typeface="Inter"/>
                <a:ea typeface="Inter"/>
                <a:cs typeface="Inter"/>
                <a:sym typeface="Inter"/>
              </a:rPr>
              <a:t>.</a:t>
            </a:r>
            <a:endParaRPr/>
          </a:p>
        </p:txBody>
      </p:sp>
      <p:sp>
        <p:nvSpPr>
          <p:cNvPr id="244" name="Google Shape;244;p24"/>
          <p:cNvSpPr txBox="1"/>
          <p:nvPr/>
        </p:nvSpPr>
        <p:spPr>
          <a:xfrm>
            <a:off x="962025" y="2665214"/>
            <a:ext cx="4680585" cy="504825"/>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950" b="1" i="0" u="none" strike="noStrike" cap="none">
                <a:solidFill>
                  <a:srgbClr val="EF4444"/>
                </a:solidFill>
                <a:latin typeface="Urbanist"/>
                <a:ea typeface="Urbanist"/>
                <a:cs typeface="Urbanist"/>
                <a:sym typeface="Urbanist"/>
              </a:rPr>
              <a:t>Prop Drilling</a:t>
            </a:r>
            <a:endParaRPr/>
          </a:p>
        </p:txBody>
      </p:sp>
      <p:sp>
        <p:nvSpPr>
          <p:cNvPr id="245" name="Google Shape;245;p24"/>
          <p:cNvSpPr txBox="1"/>
          <p:nvPr/>
        </p:nvSpPr>
        <p:spPr>
          <a:xfrm>
            <a:off x="962025" y="3312914"/>
            <a:ext cx="4457700" cy="517921"/>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dirty="0" err="1">
                <a:solidFill>
                  <a:srgbClr val="CBD5E1"/>
                </a:solidFill>
                <a:latin typeface="Inter"/>
                <a:ea typeface="Inter"/>
                <a:cs typeface="Inter"/>
                <a:sym typeface="Inter"/>
              </a:rPr>
              <a:t>Vấn</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đề</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truyền</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dữ</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liệu</a:t>
            </a:r>
            <a:r>
              <a:rPr lang="en-US" sz="1275" b="0" i="0" u="none" strike="noStrike" cap="none" dirty="0">
                <a:solidFill>
                  <a:srgbClr val="CBD5E1"/>
                </a:solidFill>
                <a:latin typeface="Inter"/>
                <a:ea typeface="Inter"/>
                <a:cs typeface="Inter"/>
                <a:sym typeface="Inter"/>
              </a:rPr>
              <a:t> qua </a:t>
            </a:r>
            <a:r>
              <a:rPr lang="en-US" sz="1275" b="0" i="0" u="none" strike="noStrike" cap="none" dirty="0" err="1">
                <a:solidFill>
                  <a:srgbClr val="CBD5E1"/>
                </a:solidFill>
                <a:latin typeface="Inter"/>
                <a:ea typeface="Inter"/>
                <a:cs typeface="Inter"/>
                <a:sym typeface="Inter"/>
              </a:rPr>
              <a:t>quá</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nhiều</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cấp</a:t>
            </a:r>
            <a:r>
              <a:rPr lang="en-US" sz="1275" b="0" i="0" u="none" strike="noStrike" cap="none" dirty="0">
                <a:solidFill>
                  <a:srgbClr val="CBD5E1"/>
                </a:solidFill>
                <a:latin typeface="Inter"/>
                <a:ea typeface="Inter"/>
                <a:cs typeface="Inter"/>
                <a:sym typeface="Inter"/>
              </a:rPr>
              <a:t> Component </a:t>
            </a:r>
            <a:r>
              <a:rPr lang="en-US" sz="1275" b="0" i="0" u="none" strike="noStrike" cap="none" dirty="0" err="1">
                <a:solidFill>
                  <a:srgbClr val="CBD5E1"/>
                </a:solidFill>
                <a:latin typeface="Inter"/>
                <a:ea typeface="Inter"/>
                <a:cs typeface="Inter"/>
                <a:sym typeface="Inter"/>
              </a:rPr>
              <a:t>trung</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gian</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gây</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khó</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bảo</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trì</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và</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dễ</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lỗi</a:t>
            </a:r>
            <a:r>
              <a:rPr lang="en-US" sz="1275" b="0" i="0" u="none" strike="noStrike" cap="none" dirty="0">
                <a:solidFill>
                  <a:srgbClr val="CBD5E1"/>
                </a:solidFill>
                <a:latin typeface="Inter"/>
                <a:ea typeface="Inter"/>
                <a:cs typeface="Inter"/>
                <a:sym typeface="Inter"/>
              </a:rPr>
              <a:t>.</a:t>
            </a:r>
            <a:endParaRPr dirty="0"/>
          </a:p>
        </p:txBody>
      </p:sp>
      <p:sp>
        <p:nvSpPr>
          <p:cNvPr id="246" name="Google Shape;246;p24"/>
          <p:cNvSpPr txBox="1"/>
          <p:nvPr/>
        </p:nvSpPr>
        <p:spPr>
          <a:xfrm>
            <a:off x="6772275" y="2665214"/>
            <a:ext cx="4680585" cy="504825"/>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950" b="1" i="0" u="none" strike="noStrike" cap="none">
                <a:solidFill>
                  <a:srgbClr val="06B6D4"/>
                </a:solidFill>
                <a:latin typeface="Urbanist"/>
                <a:ea typeface="Urbanist"/>
                <a:cs typeface="Urbanist"/>
                <a:sym typeface="Urbanist"/>
              </a:rPr>
              <a:t>Context API</a:t>
            </a:r>
            <a:endParaRPr/>
          </a:p>
        </p:txBody>
      </p:sp>
      <p:sp>
        <p:nvSpPr>
          <p:cNvPr id="247" name="Google Shape;247;p24"/>
          <p:cNvSpPr txBox="1"/>
          <p:nvPr/>
        </p:nvSpPr>
        <p:spPr>
          <a:xfrm>
            <a:off x="6772275" y="3312914"/>
            <a:ext cx="4457700" cy="517921"/>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a:solidFill>
                  <a:srgbClr val="CBD5E1"/>
                </a:solidFill>
                <a:latin typeface="Inter"/>
                <a:ea typeface="Inter"/>
                <a:cs typeface="Inter"/>
                <a:sym typeface="Inter"/>
              </a:rPr>
              <a:t>Thiết lập "Kho lưu trữ tập trung". Các Component dù ở đâu cũng có thể kết nối trực tiếp để lấy dữ liệu.</a:t>
            </a:r>
            <a:endParaRPr/>
          </a:p>
        </p:txBody>
      </p:sp>
      <p:pic>
        <p:nvPicPr>
          <p:cNvPr id="248" name="Google Shape;248;p24" descr="image.png"/>
          <p:cNvPicPr preferRelativeResize="0"/>
          <p:nvPr/>
        </p:nvPicPr>
        <p:blipFill rotWithShape="1">
          <a:blip r:embed="rId6">
            <a:alphaModFix/>
          </a:blip>
          <a:srcRect/>
          <a:stretch/>
        </p:blipFill>
        <p:spPr>
          <a:xfrm>
            <a:off x="962025" y="2703314"/>
            <a:ext cx="228600" cy="228600"/>
          </a:xfrm>
          <a:prstGeom prst="rect">
            <a:avLst/>
          </a:prstGeom>
          <a:noFill/>
          <a:ln>
            <a:noFill/>
          </a:ln>
        </p:spPr>
      </p:pic>
      <p:pic>
        <p:nvPicPr>
          <p:cNvPr id="249" name="Google Shape;249;p24" descr="image.png"/>
          <p:cNvPicPr preferRelativeResize="0"/>
          <p:nvPr/>
        </p:nvPicPr>
        <p:blipFill rotWithShape="1">
          <a:blip r:embed="rId7">
            <a:alphaModFix/>
          </a:blip>
          <a:srcRect/>
          <a:stretch/>
        </p:blipFill>
        <p:spPr>
          <a:xfrm>
            <a:off x="6772275" y="2703314"/>
            <a:ext cx="228600" cy="228600"/>
          </a:xfrm>
          <a:prstGeom prst="rect">
            <a:avLst/>
          </a:prstGeom>
          <a:noFill/>
          <a:ln>
            <a:noFill/>
          </a:ln>
        </p:spPr>
      </p:pic>
      <p:sp>
        <p:nvSpPr>
          <p:cNvPr id="250" name="Google Shape;250;p24"/>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QUẢN LÝ TRẠNG THÁI TOÀN CỤC</a:t>
            </a:r>
            <a:endParaRPr/>
          </a:p>
        </p:txBody>
      </p:sp>
      <p:sp>
        <p:nvSpPr>
          <p:cNvPr id="251" name="Google Shape;251;p24"/>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5"/>
        <p:cNvGrpSpPr/>
        <p:nvPr/>
      </p:nvGrpSpPr>
      <p:grpSpPr>
        <a:xfrm>
          <a:off x="0" y="0"/>
          <a:ext cx="0" cy="0"/>
          <a:chOff x="0" y="0"/>
          <a:chExt cx="0" cy="0"/>
        </a:xfrm>
      </p:grpSpPr>
      <p:pic>
        <p:nvPicPr>
          <p:cNvPr id="256" name="Google Shape;256;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7" name="Google Shape;257;p25"/>
          <p:cNvSpPr txBox="1"/>
          <p:nvPr/>
        </p:nvSpPr>
        <p:spPr>
          <a:xfrm>
            <a:off x="762000" y="1509712"/>
            <a:ext cx="50006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LOGIC GIỎ HÀNG</a:t>
            </a:r>
            <a:endParaRPr/>
          </a:p>
        </p:txBody>
      </p:sp>
      <p:sp>
        <p:nvSpPr>
          <p:cNvPr id="258" name="Google Shape;258;p25"/>
          <p:cNvSpPr/>
          <p:nvPr/>
        </p:nvSpPr>
        <p:spPr>
          <a:xfrm>
            <a:off x="571500" y="1509712"/>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5"/>
          <p:cNvSpPr txBox="1"/>
          <p:nvPr/>
        </p:nvSpPr>
        <p:spPr>
          <a:xfrm>
            <a:off x="571500" y="2566987"/>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Hệ thống xử lý thông minh:</a:t>
            </a:r>
            <a:endParaRPr/>
          </a:p>
        </p:txBody>
      </p:sp>
      <p:pic>
        <p:nvPicPr>
          <p:cNvPr id="260" name="Google Shape;260;p25"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261" name="Google Shape;261;p25"/>
          <p:cNvSpPr txBox="1"/>
          <p:nvPr/>
        </p:nvSpPr>
        <p:spPr>
          <a:xfrm>
            <a:off x="1333500" y="3405187"/>
            <a:ext cx="4191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Kiểm tra sản phẩm tồn tại trong mảng.</a:t>
            </a:r>
            <a:endParaRPr/>
          </a:p>
        </p:txBody>
      </p:sp>
      <p:sp>
        <p:nvSpPr>
          <p:cNvPr id="262" name="Google Shape;262;p25"/>
          <p:cNvSpPr txBox="1"/>
          <p:nvPr/>
        </p:nvSpPr>
        <p:spPr>
          <a:xfrm>
            <a:off x="1333500" y="3900487"/>
            <a:ext cx="4191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Tự động </a:t>
            </a:r>
            <a:r>
              <a:rPr lang="en-US" sz="1500" b="1" i="0" u="none" strike="noStrike" cap="none">
                <a:solidFill>
                  <a:srgbClr val="06B6D4"/>
                </a:solidFill>
                <a:latin typeface="Inter"/>
                <a:ea typeface="Inter"/>
                <a:cs typeface="Inter"/>
                <a:sym typeface="Inter"/>
              </a:rPr>
              <a:t>cộng dồn số lượng</a:t>
            </a:r>
            <a:r>
              <a:rPr lang="en-US" sz="1500" b="0" i="0" u="none" strike="noStrike" cap="none">
                <a:solidFill>
                  <a:srgbClr val="CBD5E1"/>
                </a:solidFill>
                <a:latin typeface="Inter"/>
                <a:ea typeface="Inter"/>
                <a:cs typeface="Inter"/>
                <a:sym typeface="Inter"/>
              </a:rPr>
              <a:t> nếu đã có.</a:t>
            </a:r>
            <a:endParaRPr/>
          </a:p>
        </p:txBody>
      </p:sp>
      <p:sp>
        <p:nvSpPr>
          <p:cNvPr id="263" name="Google Shape;263;p25"/>
          <p:cNvSpPr txBox="1"/>
          <p:nvPr/>
        </p:nvSpPr>
        <p:spPr>
          <a:xfrm>
            <a:off x="1333500" y="4395787"/>
            <a:ext cx="4191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Tính toán tổng tiền </a:t>
            </a:r>
            <a:r>
              <a:rPr lang="en-US" sz="1500" b="1" i="0" u="none" strike="noStrike" cap="none">
                <a:solidFill>
                  <a:srgbClr val="06B6D4"/>
                </a:solidFill>
                <a:latin typeface="Inter"/>
                <a:ea typeface="Inter"/>
                <a:cs typeface="Inter"/>
                <a:sym typeface="Inter"/>
              </a:rPr>
              <a:t>thời gian thực</a:t>
            </a:r>
            <a:r>
              <a:rPr lang="en-US" sz="1500" b="0" i="0" u="none" strike="noStrike" cap="none">
                <a:solidFill>
                  <a:srgbClr val="CBD5E1"/>
                </a:solidFill>
                <a:latin typeface="Inter"/>
                <a:ea typeface="Inter"/>
                <a:cs typeface="Inter"/>
                <a:sym typeface="Inter"/>
              </a:rPr>
              <a:t>.</a:t>
            </a:r>
            <a:endParaRPr/>
          </a:p>
        </p:txBody>
      </p:sp>
      <p:sp>
        <p:nvSpPr>
          <p:cNvPr id="264" name="Google Shape;264;p25"/>
          <p:cNvSpPr txBox="1"/>
          <p:nvPr/>
        </p:nvSpPr>
        <p:spPr>
          <a:xfrm>
            <a:off x="1333500" y="4891087"/>
            <a:ext cx="4191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Xóa mặt hàng khỏi giỏ linh hoạt.</a:t>
            </a:r>
            <a:endParaRPr/>
          </a:p>
        </p:txBody>
      </p:sp>
      <p:pic>
        <p:nvPicPr>
          <p:cNvPr id="265" name="Google Shape;265;p25" descr="image.png"/>
          <p:cNvPicPr preferRelativeResize="0"/>
          <p:nvPr/>
        </p:nvPicPr>
        <p:blipFill rotWithShape="1">
          <a:blip r:embed="rId5">
            <a:alphaModFix/>
          </a:blip>
          <a:srcRect/>
          <a:stretch/>
        </p:blipFill>
        <p:spPr>
          <a:xfrm>
            <a:off x="952500" y="3405187"/>
            <a:ext cx="190500" cy="200025"/>
          </a:xfrm>
          <a:prstGeom prst="rect">
            <a:avLst/>
          </a:prstGeom>
          <a:noFill/>
          <a:ln>
            <a:noFill/>
          </a:ln>
        </p:spPr>
      </p:pic>
      <p:pic>
        <p:nvPicPr>
          <p:cNvPr id="266" name="Google Shape;266;p25" descr="image.png"/>
          <p:cNvPicPr preferRelativeResize="0"/>
          <p:nvPr/>
        </p:nvPicPr>
        <p:blipFill rotWithShape="1">
          <a:blip r:embed="rId5">
            <a:alphaModFix/>
          </a:blip>
          <a:srcRect/>
          <a:stretch/>
        </p:blipFill>
        <p:spPr>
          <a:xfrm>
            <a:off x="952500" y="3900487"/>
            <a:ext cx="190500" cy="200025"/>
          </a:xfrm>
          <a:prstGeom prst="rect">
            <a:avLst/>
          </a:prstGeom>
          <a:noFill/>
          <a:ln>
            <a:noFill/>
          </a:ln>
        </p:spPr>
      </p:pic>
      <p:pic>
        <p:nvPicPr>
          <p:cNvPr id="267" name="Google Shape;267;p25" descr="image.png"/>
          <p:cNvPicPr preferRelativeResize="0"/>
          <p:nvPr/>
        </p:nvPicPr>
        <p:blipFill rotWithShape="1">
          <a:blip r:embed="rId5">
            <a:alphaModFix/>
          </a:blip>
          <a:srcRect/>
          <a:stretch/>
        </p:blipFill>
        <p:spPr>
          <a:xfrm>
            <a:off x="952500" y="4395787"/>
            <a:ext cx="190500" cy="200025"/>
          </a:xfrm>
          <a:prstGeom prst="rect">
            <a:avLst/>
          </a:prstGeom>
          <a:noFill/>
          <a:ln>
            <a:noFill/>
          </a:ln>
        </p:spPr>
      </p:pic>
      <p:pic>
        <p:nvPicPr>
          <p:cNvPr id="268" name="Google Shape;268;p25" descr="image.png"/>
          <p:cNvPicPr preferRelativeResize="0"/>
          <p:nvPr/>
        </p:nvPicPr>
        <p:blipFill rotWithShape="1">
          <a:blip r:embed="rId5">
            <a:alphaModFix/>
          </a:blip>
          <a:srcRect/>
          <a:stretch/>
        </p:blipFill>
        <p:spPr>
          <a:xfrm>
            <a:off x="952500" y="4891087"/>
            <a:ext cx="190500" cy="200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72"/>
        <p:cNvGrpSpPr/>
        <p:nvPr/>
      </p:nvGrpSpPr>
      <p:grpSpPr>
        <a:xfrm>
          <a:off x="0" y="0"/>
          <a:ext cx="0" cy="0"/>
          <a:chOff x="0" y="0"/>
          <a:chExt cx="0" cy="0"/>
        </a:xfrm>
      </p:grpSpPr>
      <p:pic>
        <p:nvPicPr>
          <p:cNvPr id="273" name="Google Shape;273;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4" name="Google Shape;274;p26" descr="image.png"/>
          <p:cNvPicPr preferRelativeResize="0"/>
          <p:nvPr/>
        </p:nvPicPr>
        <p:blipFill rotWithShape="1">
          <a:blip r:embed="rId4">
            <a:alphaModFix/>
          </a:blip>
          <a:srcRect/>
          <a:stretch/>
        </p:blipFill>
        <p:spPr>
          <a:xfrm>
            <a:off x="6381750" y="3872805"/>
            <a:ext cx="5238750" cy="552450"/>
          </a:xfrm>
          <a:prstGeom prst="rect">
            <a:avLst/>
          </a:prstGeom>
          <a:noFill/>
          <a:ln>
            <a:noFill/>
          </a:ln>
        </p:spPr>
      </p:pic>
      <p:pic>
        <p:nvPicPr>
          <p:cNvPr id="275" name="Google Shape;275;p26" descr="image.png"/>
          <p:cNvPicPr preferRelativeResize="0"/>
          <p:nvPr/>
        </p:nvPicPr>
        <p:blipFill rotWithShape="1">
          <a:blip r:embed="rId5">
            <a:alphaModFix/>
          </a:blip>
          <a:srcRect/>
          <a:stretch/>
        </p:blipFill>
        <p:spPr>
          <a:xfrm>
            <a:off x="571500" y="1957387"/>
            <a:ext cx="5238750" cy="3810000"/>
          </a:xfrm>
          <a:prstGeom prst="rect">
            <a:avLst/>
          </a:prstGeom>
          <a:noFill/>
          <a:ln>
            <a:noFill/>
          </a:ln>
        </p:spPr>
      </p:pic>
      <p:sp>
        <p:nvSpPr>
          <p:cNvPr id="276" name="Google Shape;276;p26"/>
          <p:cNvSpPr txBox="1"/>
          <p:nvPr/>
        </p:nvSpPr>
        <p:spPr>
          <a:xfrm>
            <a:off x="6381750" y="2663130"/>
            <a:ext cx="550068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FFFFF"/>
                </a:solidFill>
                <a:latin typeface="Urbanist"/>
                <a:ea typeface="Urbanist"/>
                <a:cs typeface="Urbanist"/>
                <a:sym typeface="Urbanist"/>
              </a:rPr>
              <a:t>Thiết kế Utility-First</a:t>
            </a:r>
            <a:endParaRPr/>
          </a:p>
        </p:txBody>
      </p:sp>
      <p:sp>
        <p:nvSpPr>
          <p:cNvPr id="277" name="Google Shape;277;p26"/>
          <p:cNvSpPr txBox="1"/>
          <p:nvPr/>
        </p:nvSpPr>
        <p:spPr>
          <a:xfrm>
            <a:off x="6381750" y="3072705"/>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Xây dựng giao diện hiện đại ngay trong mã nguồn JSX mà không cần viết file CSS riêng biệt.</a:t>
            </a:r>
            <a:endParaRPr/>
          </a:p>
        </p:txBody>
      </p:sp>
      <p:sp>
        <p:nvSpPr>
          <p:cNvPr id="278" name="Google Shape;278;p26"/>
          <p:cNvSpPr txBox="1"/>
          <p:nvPr/>
        </p:nvSpPr>
        <p:spPr>
          <a:xfrm>
            <a:off x="6381750" y="4615755"/>
            <a:ext cx="5238750" cy="274290"/>
          </a:xfrm>
          <a:prstGeom prst="rect">
            <a:avLst/>
          </a:prstGeom>
          <a:noFill/>
          <a:ln>
            <a:noFill/>
          </a:ln>
        </p:spPr>
        <p:txBody>
          <a:bodyPr spcFirstLastPara="1" wrap="square" lIns="13335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Ưu tiên </a:t>
            </a:r>
            <a:r>
              <a:rPr lang="en-US" sz="1350" b="1" i="0" u="none" strike="noStrike" cap="none">
                <a:solidFill>
                  <a:srgbClr val="06B6D4"/>
                </a:solidFill>
                <a:latin typeface="Inter"/>
                <a:ea typeface="Inter"/>
                <a:cs typeface="Inter"/>
                <a:sym typeface="Inter"/>
              </a:rPr>
              <a:t>Mobile-first</a:t>
            </a:r>
            <a:r>
              <a:rPr lang="en-US" sz="1350" b="0" i="0" u="none" strike="noStrike" cap="none">
                <a:solidFill>
                  <a:srgbClr val="CBD5E1"/>
                </a:solidFill>
                <a:latin typeface="Inter"/>
                <a:ea typeface="Inter"/>
                <a:cs typeface="Inter"/>
                <a:sym typeface="Inter"/>
              </a:rPr>
              <a:t>, tự động thích ứng với mọi độ phân giải.</a:t>
            </a:r>
            <a:endParaRPr/>
          </a:p>
        </p:txBody>
      </p:sp>
      <p:pic>
        <p:nvPicPr>
          <p:cNvPr id="279" name="Google Shape;279;p26" descr="image.png"/>
          <p:cNvPicPr preferRelativeResize="0"/>
          <p:nvPr/>
        </p:nvPicPr>
        <p:blipFill rotWithShape="1">
          <a:blip r:embed="rId6">
            <a:alphaModFix/>
          </a:blip>
          <a:srcRect/>
          <a:stretch/>
        </p:blipFill>
        <p:spPr>
          <a:xfrm>
            <a:off x="6381750" y="4663380"/>
            <a:ext cx="133350" cy="171450"/>
          </a:xfrm>
          <a:prstGeom prst="rect">
            <a:avLst/>
          </a:prstGeom>
          <a:noFill/>
          <a:ln>
            <a:noFill/>
          </a:ln>
        </p:spPr>
      </p:pic>
      <p:sp>
        <p:nvSpPr>
          <p:cNvPr id="280" name="Google Shape;280;p26"/>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TAILWIND CSS &amp; RESPONSIVE</a:t>
            </a:r>
            <a:endParaRPr/>
          </a:p>
        </p:txBody>
      </p:sp>
      <p:sp>
        <p:nvSpPr>
          <p:cNvPr id="281" name="Google Shape;281;p26"/>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5"/>
        <p:cNvGrpSpPr/>
        <p:nvPr/>
      </p:nvGrpSpPr>
      <p:grpSpPr>
        <a:xfrm>
          <a:off x="0" y="0"/>
          <a:ext cx="0" cy="0"/>
          <a:chOff x="0" y="0"/>
          <a:chExt cx="0" cy="0"/>
        </a:xfrm>
      </p:grpSpPr>
      <p:pic>
        <p:nvPicPr>
          <p:cNvPr id="286" name="Google Shape;286;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87" name="Google Shape;287;p27"/>
          <p:cNvSpPr txBox="1"/>
          <p:nvPr/>
        </p:nvSpPr>
        <p:spPr>
          <a:xfrm>
            <a:off x="295275" y="2371725"/>
            <a:ext cx="11601450"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6B6D4"/>
                </a:solidFill>
                <a:latin typeface="Urbanist"/>
                <a:ea typeface="Urbanist"/>
                <a:cs typeface="Urbanist"/>
                <a:sym typeface="Urbanist"/>
              </a:rPr>
              <a:t>CHƯƠNG 3</a:t>
            </a:r>
            <a:endParaRPr/>
          </a:p>
        </p:txBody>
      </p:sp>
      <p:sp>
        <p:nvSpPr>
          <p:cNvPr id="288" name="Google Shape;288;p27"/>
          <p:cNvSpPr txBox="1"/>
          <p:nvPr/>
        </p:nvSpPr>
        <p:spPr>
          <a:xfrm>
            <a:off x="295275" y="2828925"/>
            <a:ext cx="11601450"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06B6D4"/>
                </a:solidFill>
                <a:latin typeface="Urbanist"/>
                <a:ea typeface="Urbanist"/>
                <a:cs typeface="Urbanist"/>
                <a:sym typeface="Urbanist"/>
              </a:rPr>
              <a:t>HIỆN THỰC HÓA NGHIÊN CỨU</a:t>
            </a:r>
            <a:endParaRPr/>
          </a:p>
        </p:txBody>
      </p:sp>
      <p:sp>
        <p:nvSpPr>
          <p:cNvPr id="289" name="Google Shape;289;p27"/>
          <p:cNvSpPr/>
          <p:nvPr/>
        </p:nvSpPr>
        <p:spPr>
          <a:xfrm>
            <a:off x="5381625" y="4048125"/>
            <a:ext cx="1428750" cy="5715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93"/>
        <p:cNvGrpSpPr/>
        <p:nvPr/>
      </p:nvGrpSpPr>
      <p:grpSpPr>
        <a:xfrm>
          <a:off x="0" y="0"/>
          <a:ext cx="0" cy="0"/>
          <a:chOff x="0" y="0"/>
          <a:chExt cx="0" cy="0"/>
        </a:xfrm>
      </p:grpSpPr>
      <p:pic>
        <p:nvPicPr>
          <p:cNvPr id="294" name="Google Shape;294;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6" name="Google Shape;296;p28"/>
          <p:cNvSpPr txBox="1"/>
          <p:nvPr/>
        </p:nvSpPr>
        <p:spPr>
          <a:xfrm>
            <a:off x="571500" y="2519362"/>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Sử dụng công cụ </a:t>
            </a:r>
            <a:r>
              <a:rPr lang="en-US" sz="1500" b="1" i="0" u="none" strike="noStrike" cap="none">
                <a:solidFill>
                  <a:srgbClr val="06B6D4"/>
                </a:solidFill>
                <a:latin typeface="Inter"/>
                <a:ea typeface="Inter"/>
                <a:cs typeface="Inter"/>
                <a:sym typeface="Inter"/>
              </a:rPr>
              <a:t>Vite</a:t>
            </a:r>
            <a:r>
              <a:rPr lang="en-US" sz="1500" b="0" i="0" u="none" strike="noStrike" cap="none">
                <a:solidFill>
                  <a:srgbClr val="CBD5E1"/>
                </a:solidFill>
                <a:latin typeface="Inter"/>
                <a:ea typeface="Inter"/>
                <a:cs typeface="Inter"/>
                <a:sym typeface="Inter"/>
              </a:rPr>
              <a:t> làm môi trường xây dựng (Build tool) giúp khởi động và Hot Reload cực nhanh.</a:t>
            </a:r>
            <a:endParaRPr/>
          </a:p>
        </p:txBody>
      </p:sp>
      <p:sp>
        <p:nvSpPr>
          <p:cNvPr id="298" name="Google Shape;298;p28"/>
          <p:cNvSpPr txBox="1"/>
          <p:nvPr/>
        </p:nvSpPr>
        <p:spPr>
          <a:xfrm>
            <a:off x="1333500" y="3414712"/>
            <a:ext cx="4476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/assets:</a:t>
            </a:r>
            <a:r>
              <a:rPr lang="en-US" sz="1500" b="0" i="0" u="none" strike="noStrike" cap="none">
                <a:solidFill>
                  <a:srgbClr val="CBD5E1"/>
                </a:solidFill>
                <a:latin typeface="Inter"/>
                <a:ea typeface="Inter"/>
                <a:cs typeface="Inter"/>
                <a:sym typeface="Inter"/>
              </a:rPr>
              <a:t> Lưu trữ hình ảnh, icon tĩnh.</a:t>
            </a:r>
            <a:endParaRPr/>
          </a:p>
        </p:txBody>
      </p:sp>
      <p:sp>
        <p:nvSpPr>
          <p:cNvPr id="299" name="Google Shape;299;p28"/>
          <p:cNvSpPr txBox="1"/>
          <p:nvPr/>
        </p:nvSpPr>
        <p:spPr>
          <a:xfrm>
            <a:off x="1333500" y="3910012"/>
            <a:ext cx="4476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/components:</a:t>
            </a:r>
            <a:r>
              <a:rPr lang="en-US" sz="1500" b="0" i="0" u="none" strike="noStrike" cap="none">
                <a:solidFill>
                  <a:srgbClr val="CBD5E1"/>
                </a:solidFill>
                <a:latin typeface="Inter"/>
                <a:ea typeface="Inter"/>
                <a:cs typeface="Inter"/>
                <a:sym typeface="Inter"/>
              </a:rPr>
              <a:t> Chứa các phần UI tái sử dụng.</a:t>
            </a:r>
            <a:endParaRPr/>
          </a:p>
        </p:txBody>
      </p:sp>
      <p:sp>
        <p:nvSpPr>
          <p:cNvPr id="300" name="Google Shape;300;p28"/>
          <p:cNvSpPr txBox="1"/>
          <p:nvPr/>
        </p:nvSpPr>
        <p:spPr>
          <a:xfrm>
            <a:off x="1333500" y="4405312"/>
            <a:ext cx="4476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/context:</a:t>
            </a:r>
            <a:r>
              <a:rPr lang="en-US" sz="1500" b="0" i="0" u="none" strike="noStrike" cap="none">
                <a:solidFill>
                  <a:srgbClr val="CBD5E1"/>
                </a:solidFill>
                <a:latin typeface="Inter"/>
                <a:ea typeface="Inter"/>
                <a:cs typeface="Inter"/>
                <a:sym typeface="Inter"/>
              </a:rPr>
              <a:t> Quản lý logic CartContext.</a:t>
            </a:r>
            <a:endParaRPr/>
          </a:p>
        </p:txBody>
      </p:sp>
      <p:sp>
        <p:nvSpPr>
          <p:cNvPr id="301" name="Google Shape;301;p28"/>
          <p:cNvSpPr txBox="1"/>
          <p:nvPr/>
        </p:nvSpPr>
        <p:spPr>
          <a:xfrm>
            <a:off x="1333500" y="4900612"/>
            <a:ext cx="4476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/pages:</a:t>
            </a:r>
            <a:r>
              <a:rPr lang="en-US" sz="1500" b="0" i="0" u="none" strike="noStrike" cap="none">
                <a:solidFill>
                  <a:srgbClr val="CBD5E1"/>
                </a:solidFill>
                <a:latin typeface="Inter"/>
                <a:ea typeface="Inter"/>
                <a:cs typeface="Inter"/>
                <a:sym typeface="Inter"/>
              </a:rPr>
              <a:t> Chứa các trang chính (Home, Cart).</a:t>
            </a:r>
            <a:endParaRPr/>
          </a:p>
        </p:txBody>
      </p:sp>
      <p:sp>
        <p:nvSpPr>
          <p:cNvPr id="302" name="Google Shape;302;p28"/>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TỔ CHỨC CẤU TRÚC MÃ NGUỒN</a:t>
            </a:r>
            <a:endParaRPr/>
          </a:p>
        </p:txBody>
      </p:sp>
      <p:sp>
        <p:nvSpPr>
          <p:cNvPr id="303" name="Google Shape;303;p28"/>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04" name="Google Shape;304;p28" descr="image.png"/>
          <p:cNvPicPr preferRelativeResize="0"/>
          <p:nvPr/>
        </p:nvPicPr>
        <p:blipFill rotWithShape="1">
          <a:blip r:embed="rId4">
            <a:alphaModFix/>
          </a:blip>
          <a:srcRect/>
          <a:stretch/>
        </p:blipFill>
        <p:spPr>
          <a:xfrm>
            <a:off x="952500" y="3414712"/>
            <a:ext cx="190500" cy="200025"/>
          </a:xfrm>
          <a:prstGeom prst="rect">
            <a:avLst/>
          </a:prstGeom>
          <a:noFill/>
          <a:ln>
            <a:noFill/>
          </a:ln>
        </p:spPr>
      </p:pic>
      <p:pic>
        <p:nvPicPr>
          <p:cNvPr id="305" name="Google Shape;305;p28" descr="image.png"/>
          <p:cNvPicPr preferRelativeResize="0"/>
          <p:nvPr/>
        </p:nvPicPr>
        <p:blipFill rotWithShape="1">
          <a:blip r:embed="rId4">
            <a:alphaModFix/>
          </a:blip>
          <a:srcRect/>
          <a:stretch/>
        </p:blipFill>
        <p:spPr>
          <a:xfrm>
            <a:off x="952500" y="3910012"/>
            <a:ext cx="190500" cy="200025"/>
          </a:xfrm>
          <a:prstGeom prst="rect">
            <a:avLst/>
          </a:prstGeom>
          <a:noFill/>
          <a:ln>
            <a:noFill/>
          </a:ln>
        </p:spPr>
      </p:pic>
      <p:pic>
        <p:nvPicPr>
          <p:cNvPr id="306" name="Google Shape;306;p28" descr="image.png"/>
          <p:cNvPicPr preferRelativeResize="0"/>
          <p:nvPr/>
        </p:nvPicPr>
        <p:blipFill rotWithShape="1">
          <a:blip r:embed="rId4">
            <a:alphaModFix/>
          </a:blip>
          <a:srcRect/>
          <a:stretch/>
        </p:blipFill>
        <p:spPr>
          <a:xfrm>
            <a:off x="952500" y="4405312"/>
            <a:ext cx="190500" cy="200025"/>
          </a:xfrm>
          <a:prstGeom prst="rect">
            <a:avLst/>
          </a:prstGeom>
          <a:noFill/>
          <a:ln>
            <a:noFill/>
          </a:ln>
        </p:spPr>
      </p:pic>
      <p:pic>
        <p:nvPicPr>
          <p:cNvPr id="307" name="Google Shape;307;p28" descr="image.png"/>
          <p:cNvPicPr preferRelativeResize="0"/>
          <p:nvPr/>
        </p:nvPicPr>
        <p:blipFill rotWithShape="1">
          <a:blip r:embed="rId4">
            <a:alphaModFix/>
          </a:blip>
          <a:srcRect/>
          <a:stretch/>
        </p:blipFill>
        <p:spPr>
          <a:xfrm>
            <a:off x="952500" y="4900612"/>
            <a:ext cx="190500" cy="200025"/>
          </a:xfrm>
          <a:prstGeom prst="rect">
            <a:avLst/>
          </a:prstGeom>
          <a:noFill/>
          <a:ln>
            <a:noFill/>
          </a:ln>
        </p:spPr>
      </p:pic>
      <p:pic>
        <p:nvPicPr>
          <p:cNvPr id="2050" name="Picture 1">
            <a:extLst>
              <a:ext uri="{FF2B5EF4-FFF2-40B4-BE49-F238E27FC236}">
                <a16:creationId xmlns:a16="http://schemas.microsoft.com/office/drawing/2014/main" id="{94C697AF-ED99-0FC6-E75C-F3DBAC08FF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3348" y="1489435"/>
            <a:ext cx="5336865" cy="479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1"/>
        <p:cNvGrpSpPr/>
        <p:nvPr/>
      </p:nvGrpSpPr>
      <p:grpSpPr>
        <a:xfrm>
          <a:off x="0" y="0"/>
          <a:ext cx="0" cy="0"/>
          <a:chOff x="0" y="0"/>
          <a:chExt cx="0" cy="0"/>
        </a:xfrm>
      </p:grpSpPr>
      <p:pic>
        <p:nvPicPr>
          <p:cNvPr id="312" name="Google Shape;312;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313" name="Google Shape;313;p29"/>
          <p:cNvGraphicFramePr/>
          <p:nvPr>
            <p:extLst>
              <p:ext uri="{D42A27DB-BD31-4B8C-83A1-F6EECF244321}">
                <p14:modId xmlns:p14="http://schemas.microsoft.com/office/powerpoint/2010/main" val="1028492009"/>
              </p:ext>
            </p:extLst>
          </p:nvPr>
        </p:nvGraphicFramePr>
        <p:xfrm>
          <a:off x="530847" y="2131538"/>
          <a:ext cx="11036063" cy="3307190"/>
        </p:xfrm>
        <a:graphic>
          <a:graphicData uri="http://schemas.openxmlformats.org/drawingml/2006/table">
            <a:tbl>
              <a:tblPr firstRow="1" bandRow="1">
                <a:noFill/>
                <a:tableStyleId>{CA1FFD81-30CF-4385-A949-D76856F522E5}</a:tableStyleId>
              </a:tblPr>
              <a:tblGrid>
                <a:gridCol w="2178688">
                  <a:extLst>
                    <a:ext uri="{9D8B030D-6E8A-4147-A177-3AD203B41FA5}">
                      <a16:colId xmlns:a16="http://schemas.microsoft.com/office/drawing/2014/main" val="20000"/>
                    </a:ext>
                  </a:extLst>
                </a:gridCol>
                <a:gridCol w="5614850">
                  <a:extLst>
                    <a:ext uri="{9D8B030D-6E8A-4147-A177-3AD203B41FA5}">
                      <a16:colId xmlns:a16="http://schemas.microsoft.com/office/drawing/2014/main" val="20001"/>
                    </a:ext>
                  </a:extLst>
                </a:gridCol>
                <a:gridCol w="3242525">
                  <a:extLst>
                    <a:ext uri="{9D8B030D-6E8A-4147-A177-3AD203B41FA5}">
                      <a16:colId xmlns:a16="http://schemas.microsoft.com/office/drawing/2014/main" val="20002"/>
                    </a:ext>
                  </a:extLst>
                </a:gridCol>
              </a:tblGrid>
              <a:tr h="661438">
                <a:tc>
                  <a:txBody>
                    <a:bodyPr/>
                    <a:lstStyle/>
                    <a:p>
                      <a:pPr marL="0" marR="0" lvl="0" indent="0" algn="l" rtl="0">
                        <a:spcBef>
                          <a:spcPts val="0"/>
                        </a:spcBef>
                        <a:spcAft>
                          <a:spcPts val="0"/>
                        </a:spcAft>
                        <a:buNone/>
                      </a:pPr>
                      <a:r>
                        <a:rPr lang="en-US" sz="1650" b="1" i="0" u="none" strike="noStrike" cap="none" dirty="0" err="1">
                          <a:solidFill>
                            <a:srgbClr val="0F172A"/>
                          </a:solidFill>
                          <a:latin typeface="Inter"/>
                          <a:ea typeface="Inter"/>
                          <a:cs typeface="Inter"/>
                          <a:sym typeface="Inter"/>
                        </a:rPr>
                        <a:t>Chức</a:t>
                      </a:r>
                      <a:r>
                        <a:rPr lang="en-US" sz="1650" b="1" i="0" u="none" strike="noStrike" cap="none" dirty="0">
                          <a:solidFill>
                            <a:srgbClr val="0F172A"/>
                          </a:solidFill>
                          <a:latin typeface="Inter"/>
                          <a:ea typeface="Inter"/>
                          <a:cs typeface="Inter"/>
                          <a:sym typeface="Inter"/>
                        </a:rPr>
                        <a:t> </a:t>
                      </a:r>
                      <a:r>
                        <a:rPr lang="en-US" sz="1650" b="1" i="0" u="none" strike="noStrike" cap="none" dirty="0" err="1">
                          <a:solidFill>
                            <a:srgbClr val="0F172A"/>
                          </a:solidFill>
                          <a:latin typeface="Inter"/>
                          <a:ea typeface="Inter"/>
                          <a:cs typeface="Inter"/>
                          <a:sym typeface="Inter"/>
                        </a:rPr>
                        <a:t>năng</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B6D4"/>
                    </a:solidFill>
                  </a:tcPr>
                </a:tc>
                <a:tc>
                  <a:txBody>
                    <a:bodyPr/>
                    <a:lstStyle/>
                    <a:p>
                      <a:pPr marL="0" marR="0" lvl="0" indent="0" algn="l" rtl="0">
                        <a:spcBef>
                          <a:spcPts val="0"/>
                        </a:spcBef>
                        <a:spcAft>
                          <a:spcPts val="0"/>
                        </a:spcAft>
                        <a:buNone/>
                      </a:pPr>
                      <a:r>
                        <a:rPr lang="en-US" sz="1650" b="1" i="0" u="none" strike="noStrike" cap="none">
                          <a:solidFill>
                            <a:srgbClr val="0F172A"/>
                          </a:solidFill>
                          <a:latin typeface="Inter"/>
                          <a:ea typeface="Inter"/>
                          <a:cs typeface="Inter"/>
                          <a:sym typeface="Inter"/>
                        </a:rPr>
                        <a:t>Mô tả chi tiết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B6D4"/>
                    </a:solidFill>
                  </a:tcPr>
                </a:tc>
                <a:tc>
                  <a:txBody>
                    <a:bodyPr/>
                    <a:lstStyle/>
                    <a:p>
                      <a:pPr marL="0" marR="0" lvl="0" indent="0" algn="l" rtl="0">
                        <a:spcBef>
                          <a:spcPts val="0"/>
                        </a:spcBef>
                        <a:spcAft>
                          <a:spcPts val="0"/>
                        </a:spcAft>
                        <a:buNone/>
                      </a:pPr>
                      <a:r>
                        <a:rPr lang="en-US" sz="1650" b="1" i="0" u="none" strike="noStrike" cap="none">
                          <a:solidFill>
                            <a:srgbClr val="0F172A"/>
                          </a:solidFill>
                          <a:latin typeface="Inter"/>
                          <a:ea typeface="Inter"/>
                          <a:cs typeface="Inter"/>
                          <a:sym typeface="Inter"/>
                        </a:rPr>
                        <a:t>Công nghệ xử lý</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B6D4"/>
                    </a:solidFill>
                  </a:tcPr>
                </a:tc>
                <a:extLst>
                  <a:ext uri="{0D108BD9-81ED-4DB2-BD59-A6C34878D82A}">
                    <a16:rowId xmlns:a16="http://schemas.microsoft.com/office/drawing/2014/main" val="10000"/>
                  </a:ext>
                </a:extLst>
              </a:tr>
              <a:tr h="661438">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Hiển </a:t>
                      </a:r>
                      <a:r>
                        <a:rPr lang="en-US" sz="1350" b="0" i="0" u="none" strike="noStrike" cap="none" dirty="0" err="1">
                          <a:solidFill>
                            <a:schemeClr val="tx1"/>
                          </a:solidFill>
                          <a:latin typeface="Inter"/>
                          <a:ea typeface="Inter"/>
                          <a:cs typeface="Inter"/>
                          <a:sym typeface="Inter"/>
                        </a:rPr>
                        <a:t>thị</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sản</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phẩm</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Danh </a:t>
                      </a:r>
                      <a:r>
                        <a:rPr lang="en-US" sz="1350" b="0" i="0" u="none" strike="noStrike" cap="none" dirty="0" err="1">
                          <a:solidFill>
                            <a:schemeClr val="tx1"/>
                          </a:solidFill>
                          <a:latin typeface="Inter"/>
                          <a:ea typeface="Inter"/>
                          <a:cs typeface="Inter"/>
                          <a:sym typeface="Inter"/>
                        </a:rPr>
                        <a:t>sách</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điện</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thoại</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dạng</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lưới</a:t>
                      </a:r>
                      <a:r>
                        <a:rPr lang="en-US" sz="1350" b="0" i="0" u="none" strike="noStrike" cap="none" dirty="0">
                          <a:solidFill>
                            <a:schemeClr val="tx1"/>
                          </a:solidFill>
                          <a:latin typeface="Inter"/>
                          <a:ea typeface="Inter"/>
                          <a:cs typeface="Inter"/>
                          <a:sym typeface="Inter"/>
                        </a:rPr>
                        <a:t> (Grid), </a:t>
                      </a:r>
                      <a:r>
                        <a:rPr lang="en-US" sz="1350" b="0" i="0" u="none" strike="noStrike" cap="none" dirty="0" err="1">
                          <a:solidFill>
                            <a:schemeClr val="tx1"/>
                          </a:solidFill>
                          <a:latin typeface="Inter"/>
                          <a:ea typeface="Inter"/>
                          <a:cs typeface="Inter"/>
                          <a:sym typeface="Inter"/>
                        </a:rPr>
                        <a:t>phân</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loại</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hãng</a:t>
                      </a:r>
                      <a:r>
                        <a:rPr lang="en-US" sz="1350" b="0" i="0" u="none" strike="noStrike" cap="none" dirty="0">
                          <a:solidFill>
                            <a:srgbClr val="F8FAFC"/>
                          </a:solidFill>
                          <a:latin typeface="Inter"/>
                          <a:ea typeface="Inter"/>
                          <a:cs typeface="Inter"/>
                          <a:sym typeface="Inter"/>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React Component + Tailwind</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61438">
                <a:tc>
                  <a:txBody>
                    <a:bodyPr/>
                    <a:lstStyle/>
                    <a:p>
                      <a:pPr marL="0" marR="0" lvl="0" indent="0" algn="l" rtl="0">
                        <a:spcBef>
                          <a:spcPts val="0"/>
                        </a:spcBef>
                        <a:spcAft>
                          <a:spcPts val="0"/>
                        </a:spcAft>
                        <a:buNone/>
                      </a:pPr>
                      <a:r>
                        <a:rPr lang="en-US" sz="1350" b="0" i="0" u="none" strike="noStrike" cap="none" dirty="0" err="1">
                          <a:solidFill>
                            <a:schemeClr val="tx1"/>
                          </a:solidFill>
                          <a:latin typeface="Inter"/>
                          <a:ea typeface="Inter"/>
                          <a:cs typeface="Inter"/>
                          <a:sym typeface="Inter"/>
                        </a:rPr>
                        <a:t>Tìm</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kiếm</a:t>
                      </a:r>
                      <a:r>
                        <a:rPr lang="en-US" sz="1350" b="0" i="0" u="none" strike="noStrike" cap="none" dirty="0">
                          <a:solidFill>
                            <a:schemeClr val="tx1"/>
                          </a:solidFill>
                          <a:latin typeface="Inter"/>
                          <a:ea typeface="Inter"/>
                          <a:cs typeface="Inter"/>
                          <a:sym typeface="Inter"/>
                        </a:rPr>
                        <a:t>/</a:t>
                      </a:r>
                      <a:r>
                        <a:rPr lang="en-US" sz="1350" b="0" i="0" u="none" strike="noStrike" cap="none" dirty="0" err="1">
                          <a:solidFill>
                            <a:schemeClr val="tx1"/>
                          </a:solidFill>
                          <a:latin typeface="Inter"/>
                          <a:ea typeface="Inter"/>
                          <a:cs typeface="Inter"/>
                          <a:sym typeface="Inter"/>
                        </a:rPr>
                        <a:t>Lọc</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Inter"/>
                          <a:ea typeface="Inter"/>
                          <a:cs typeface="Inter"/>
                          <a:sym typeface="Inter"/>
                        </a:rPr>
                        <a:t>Lọc theo hãng (Apple, Samsung), theo khoảng giá.</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err="1">
                          <a:solidFill>
                            <a:schemeClr val="tx1"/>
                          </a:solidFill>
                          <a:latin typeface="Inter"/>
                          <a:ea typeface="Inter"/>
                          <a:cs typeface="Inter"/>
                          <a:sym typeface="Inter"/>
                        </a:rPr>
                        <a:t>useState</a:t>
                      </a:r>
                      <a:r>
                        <a:rPr lang="en-US" sz="1350" b="0" i="0" u="none" strike="noStrike" cap="none" dirty="0">
                          <a:solidFill>
                            <a:schemeClr val="tx1"/>
                          </a:solidFill>
                          <a:latin typeface="Inter"/>
                          <a:ea typeface="Inter"/>
                          <a:cs typeface="Inter"/>
                          <a:sym typeface="Inter"/>
                        </a:rPr>
                        <a:t> + Filter Logic</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61438">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Chi </a:t>
                      </a:r>
                      <a:r>
                        <a:rPr lang="en-US" sz="1350" b="0" i="0" u="none" strike="noStrike" cap="none" dirty="0" err="1">
                          <a:solidFill>
                            <a:schemeClr val="tx1"/>
                          </a:solidFill>
                          <a:latin typeface="Inter"/>
                          <a:ea typeface="Inter"/>
                          <a:cs typeface="Inter"/>
                          <a:sym typeface="Inter"/>
                        </a:rPr>
                        <a:t>tiết</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sản</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phẩm</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Xem </a:t>
                      </a:r>
                      <a:r>
                        <a:rPr lang="en-US" sz="1350" b="0" i="0" u="none" strike="noStrike" cap="none" dirty="0" err="1">
                          <a:solidFill>
                            <a:schemeClr val="tx1"/>
                          </a:solidFill>
                          <a:latin typeface="Inter"/>
                          <a:ea typeface="Inter"/>
                          <a:cs typeface="Inter"/>
                          <a:sym typeface="Inter"/>
                        </a:rPr>
                        <a:t>thông</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số</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kỹ</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thuật</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cấu</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hình</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hình</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ảnh</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lớn</a:t>
                      </a:r>
                      <a:r>
                        <a:rPr lang="en-US" sz="1350" b="0" i="0" u="none" strike="noStrike" cap="none" dirty="0">
                          <a:solidFill>
                            <a:schemeClr val="tx1"/>
                          </a:solidFill>
                          <a:latin typeface="Inter"/>
                          <a:ea typeface="Inter"/>
                          <a:cs typeface="Inter"/>
                          <a:sym typeface="Inter"/>
                        </a:rPr>
                        <a:t>.</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React Router DOM</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61438">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Quản </a:t>
                      </a:r>
                      <a:r>
                        <a:rPr lang="en-US" sz="1350" b="0" i="0" u="none" strike="noStrike" cap="none" dirty="0" err="1">
                          <a:solidFill>
                            <a:schemeClr val="tx1"/>
                          </a:solidFill>
                          <a:latin typeface="Inter"/>
                          <a:ea typeface="Inter"/>
                          <a:cs typeface="Inter"/>
                          <a:sym typeface="Inter"/>
                        </a:rPr>
                        <a:t>lý</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Giỏ</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hàng</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err="1">
                          <a:solidFill>
                            <a:schemeClr val="tx1"/>
                          </a:solidFill>
                          <a:latin typeface="Inter"/>
                          <a:ea typeface="Inter"/>
                          <a:cs typeface="Inter"/>
                          <a:sym typeface="Inter"/>
                        </a:rPr>
                        <a:t>Thêm</a:t>
                      </a:r>
                      <a:r>
                        <a:rPr lang="en-US" sz="1350" b="0" i="0" u="none" strike="noStrike" cap="none" dirty="0">
                          <a:solidFill>
                            <a:schemeClr val="tx1"/>
                          </a:solidFill>
                          <a:latin typeface="Inter"/>
                          <a:ea typeface="Inter"/>
                          <a:cs typeface="Inter"/>
                          <a:sym typeface="Inter"/>
                        </a:rPr>
                        <a:t>/</a:t>
                      </a:r>
                      <a:r>
                        <a:rPr lang="en-US" sz="1350" b="0" i="0" u="none" strike="noStrike" cap="none" dirty="0" err="1">
                          <a:solidFill>
                            <a:schemeClr val="tx1"/>
                          </a:solidFill>
                          <a:latin typeface="Inter"/>
                          <a:ea typeface="Inter"/>
                          <a:cs typeface="Inter"/>
                          <a:sym typeface="Inter"/>
                        </a:rPr>
                        <a:t>Xóa</a:t>
                      </a:r>
                      <a:r>
                        <a:rPr lang="en-US" sz="1350" b="0" i="0" u="none" strike="noStrike" cap="none" dirty="0">
                          <a:solidFill>
                            <a:schemeClr val="tx1"/>
                          </a:solidFill>
                          <a:latin typeface="Inter"/>
                          <a:ea typeface="Inter"/>
                          <a:cs typeface="Inter"/>
                          <a:sym typeface="Inter"/>
                        </a:rPr>
                        <a:t>/Sửa </a:t>
                      </a:r>
                      <a:r>
                        <a:rPr lang="en-US" sz="1350" b="0" i="0" u="none" strike="noStrike" cap="none" dirty="0" err="1">
                          <a:solidFill>
                            <a:schemeClr val="tx1"/>
                          </a:solidFill>
                          <a:latin typeface="Inter"/>
                          <a:ea typeface="Inter"/>
                          <a:cs typeface="Inter"/>
                          <a:sym typeface="Inter"/>
                        </a:rPr>
                        <a:t>số</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lượng</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tính</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tổng</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tiền</a:t>
                      </a:r>
                      <a:r>
                        <a:rPr lang="en-US" sz="1350" b="0" i="0" u="none" strike="noStrike" cap="none" dirty="0">
                          <a:solidFill>
                            <a:schemeClr val="tx1"/>
                          </a:solidFill>
                          <a:latin typeface="Inter"/>
                          <a:ea typeface="Inter"/>
                          <a:cs typeface="Inter"/>
                          <a:sym typeface="Inter"/>
                        </a:rPr>
                        <a:t>.</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Context API + </a:t>
                      </a:r>
                      <a:r>
                        <a:rPr lang="en-US" sz="1350" b="0" i="0" u="none" strike="noStrike" cap="none" dirty="0" err="1">
                          <a:solidFill>
                            <a:schemeClr val="tx1"/>
                          </a:solidFill>
                          <a:latin typeface="Inter"/>
                          <a:ea typeface="Inter"/>
                          <a:cs typeface="Inter"/>
                          <a:sym typeface="Inter"/>
                        </a:rPr>
                        <a:t>useReducer</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14" name="Google Shape;314;p29"/>
          <p:cNvSpPr/>
          <p:nvPr/>
        </p:nvSpPr>
        <p:spPr>
          <a:xfrm>
            <a:off x="571500" y="3609975"/>
            <a:ext cx="219164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9"/>
          <p:cNvSpPr/>
          <p:nvPr/>
        </p:nvSpPr>
        <p:spPr>
          <a:xfrm>
            <a:off x="2763142" y="3609975"/>
            <a:ext cx="561483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9"/>
          <p:cNvSpPr/>
          <p:nvPr/>
        </p:nvSpPr>
        <p:spPr>
          <a:xfrm>
            <a:off x="8377981" y="3609975"/>
            <a:ext cx="324251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29"/>
          <p:cNvSpPr/>
          <p:nvPr/>
        </p:nvSpPr>
        <p:spPr>
          <a:xfrm>
            <a:off x="571500" y="4162425"/>
            <a:ext cx="219164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8" name="Google Shape;318;p29"/>
          <p:cNvSpPr/>
          <p:nvPr/>
        </p:nvSpPr>
        <p:spPr>
          <a:xfrm>
            <a:off x="2763142" y="4162425"/>
            <a:ext cx="561483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9" name="Google Shape;319;p29"/>
          <p:cNvSpPr/>
          <p:nvPr/>
        </p:nvSpPr>
        <p:spPr>
          <a:xfrm>
            <a:off x="8377981" y="4162425"/>
            <a:ext cx="324251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0" name="Google Shape;320;p29"/>
          <p:cNvSpPr/>
          <p:nvPr/>
        </p:nvSpPr>
        <p:spPr>
          <a:xfrm>
            <a:off x="571500" y="4714875"/>
            <a:ext cx="219164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29"/>
          <p:cNvSpPr/>
          <p:nvPr/>
        </p:nvSpPr>
        <p:spPr>
          <a:xfrm>
            <a:off x="2763142" y="4714875"/>
            <a:ext cx="561483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2" name="Google Shape;322;p29"/>
          <p:cNvSpPr/>
          <p:nvPr/>
        </p:nvSpPr>
        <p:spPr>
          <a:xfrm>
            <a:off x="8377981" y="4714875"/>
            <a:ext cx="324251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3" name="Google Shape;323;p29"/>
          <p:cNvSpPr/>
          <p:nvPr/>
        </p:nvSpPr>
        <p:spPr>
          <a:xfrm>
            <a:off x="571500" y="5267325"/>
            <a:ext cx="219164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4" name="Google Shape;324;p29"/>
          <p:cNvSpPr/>
          <p:nvPr/>
        </p:nvSpPr>
        <p:spPr>
          <a:xfrm>
            <a:off x="2763142" y="5267325"/>
            <a:ext cx="561483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5" name="Google Shape;325;p29"/>
          <p:cNvSpPr/>
          <p:nvPr/>
        </p:nvSpPr>
        <p:spPr>
          <a:xfrm>
            <a:off x="8377981" y="5267325"/>
            <a:ext cx="324251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6" name="Google Shape;326;p29"/>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PHÂN TÍCH CHỨC NĂNG HỆ THỐNG</a:t>
            </a:r>
            <a:endParaRPr/>
          </a:p>
        </p:txBody>
      </p:sp>
      <p:sp>
        <p:nvSpPr>
          <p:cNvPr id="327" name="Google Shape;327;p29"/>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1"/>
        <p:cNvGrpSpPr/>
        <p:nvPr/>
      </p:nvGrpSpPr>
      <p:grpSpPr>
        <a:xfrm>
          <a:off x="0" y="0"/>
          <a:ext cx="0" cy="0"/>
          <a:chOff x="0" y="0"/>
          <a:chExt cx="0" cy="0"/>
        </a:xfrm>
      </p:grpSpPr>
      <p:pic>
        <p:nvPicPr>
          <p:cNvPr id="332" name="Google Shape;332;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3" name="Google Shape;333;p30" descr="image.png"/>
          <p:cNvPicPr preferRelativeResize="0"/>
          <p:nvPr/>
        </p:nvPicPr>
        <p:blipFill rotWithShape="1">
          <a:blip r:embed="rId4">
            <a:alphaModFix/>
          </a:blip>
          <a:srcRect/>
          <a:stretch/>
        </p:blipFill>
        <p:spPr>
          <a:xfrm>
            <a:off x="571500" y="2316509"/>
            <a:ext cx="5238750" cy="3038326"/>
          </a:xfrm>
          <a:prstGeom prst="rect">
            <a:avLst/>
          </a:prstGeom>
          <a:noFill/>
          <a:ln>
            <a:noFill/>
          </a:ln>
        </p:spPr>
      </p:pic>
      <p:pic>
        <p:nvPicPr>
          <p:cNvPr id="334" name="Google Shape;334;p30" descr="image.png"/>
          <p:cNvPicPr preferRelativeResize="0"/>
          <p:nvPr/>
        </p:nvPicPr>
        <p:blipFill rotWithShape="1">
          <a:blip r:embed="rId5">
            <a:alphaModFix/>
          </a:blip>
          <a:srcRect/>
          <a:stretch/>
        </p:blipFill>
        <p:spPr>
          <a:xfrm>
            <a:off x="6381750" y="2316509"/>
            <a:ext cx="5238750" cy="3091755"/>
          </a:xfrm>
          <a:prstGeom prst="rect">
            <a:avLst/>
          </a:prstGeom>
          <a:noFill/>
          <a:ln>
            <a:noFill/>
          </a:ln>
        </p:spPr>
      </p:pic>
      <p:sp>
        <p:nvSpPr>
          <p:cNvPr id="335" name="Google Shape;335;p30"/>
          <p:cNvSpPr txBox="1"/>
          <p:nvPr/>
        </p:nvSpPr>
        <p:spPr>
          <a:xfrm>
            <a:off x="904875" y="2602259"/>
            <a:ext cx="4850606"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FFFFF"/>
                </a:solidFill>
                <a:latin typeface="Urbanist"/>
                <a:ea typeface="Urbanist"/>
                <a:cs typeface="Urbanist"/>
                <a:sym typeface="Urbanist"/>
              </a:rPr>
              <a:t>Quy trình AddToCart</a:t>
            </a:r>
            <a:endParaRPr/>
          </a:p>
        </p:txBody>
      </p:sp>
      <p:sp>
        <p:nvSpPr>
          <p:cNvPr id="336" name="Google Shape;336;p30"/>
          <p:cNvSpPr txBox="1"/>
          <p:nvPr/>
        </p:nvSpPr>
        <p:spPr>
          <a:xfrm>
            <a:off x="904875" y="3011834"/>
            <a:ext cx="46196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1. Nhận thông tin sản phẩm (ID, Name, Price).</a:t>
            </a:r>
            <a:endParaRPr/>
          </a:p>
        </p:txBody>
      </p:sp>
      <p:sp>
        <p:nvSpPr>
          <p:cNvPr id="337" name="Google Shape;337;p30"/>
          <p:cNvSpPr txBox="1"/>
          <p:nvPr/>
        </p:nvSpPr>
        <p:spPr>
          <a:xfrm>
            <a:off x="904875" y="3457575"/>
            <a:ext cx="46196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2. Tìm trong state cartItems.</a:t>
            </a:r>
            <a:endParaRPr/>
          </a:p>
        </p:txBody>
      </p:sp>
      <p:sp>
        <p:nvSpPr>
          <p:cNvPr id="338" name="Google Shape;338;p30"/>
          <p:cNvSpPr txBox="1"/>
          <p:nvPr/>
        </p:nvSpPr>
        <p:spPr>
          <a:xfrm>
            <a:off x="904875" y="3903315"/>
            <a:ext cx="46196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3. Nếu tồn tại: Dùng map() để tăng quantity.</a:t>
            </a:r>
            <a:endParaRPr/>
          </a:p>
        </p:txBody>
      </p:sp>
      <p:sp>
        <p:nvSpPr>
          <p:cNvPr id="339" name="Google Shape;339;p30"/>
          <p:cNvSpPr txBox="1"/>
          <p:nvPr/>
        </p:nvSpPr>
        <p:spPr>
          <a:xfrm>
            <a:off x="904875" y="4349055"/>
            <a:ext cx="46196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4. Nếu mới: Dùng spread operator [...] để thêm vào mảng.</a:t>
            </a:r>
            <a:endParaRPr/>
          </a:p>
        </p:txBody>
      </p:sp>
      <p:sp>
        <p:nvSpPr>
          <p:cNvPr id="340" name="Google Shape;340;p30"/>
          <p:cNvSpPr txBox="1"/>
          <p:nvPr/>
        </p:nvSpPr>
        <p:spPr>
          <a:xfrm>
            <a:off x="6715125" y="2602259"/>
            <a:ext cx="4850606"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FFFFF"/>
                </a:solidFill>
                <a:latin typeface="Urbanist"/>
                <a:ea typeface="Urbanist"/>
                <a:cs typeface="Urbanist"/>
                <a:sym typeface="Urbanist"/>
              </a:rPr>
              <a:t>Đồng bộ dữ liệu</a:t>
            </a:r>
            <a:endParaRPr/>
          </a:p>
        </p:txBody>
      </p:sp>
      <p:sp>
        <p:nvSpPr>
          <p:cNvPr id="341" name="Google Shape;341;p30"/>
          <p:cNvSpPr txBox="1"/>
          <p:nvPr/>
        </p:nvSpPr>
        <p:spPr>
          <a:xfrm>
            <a:off x="6715125" y="3011834"/>
            <a:ext cx="4619625" cy="548580"/>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Dữ liệu giỏ hàng được chia sẻ xuyên suốt các Component:</a:t>
            </a:r>
            <a:endParaRPr/>
          </a:p>
        </p:txBody>
      </p:sp>
      <p:pic>
        <p:nvPicPr>
          <p:cNvPr id="342" name="Google Shape;342;p30" descr="image.png"/>
          <p:cNvPicPr preferRelativeResize="0"/>
          <p:nvPr/>
        </p:nvPicPr>
        <p:blipFill rotWithShape="1">
          <a:blip r:embed="rId6">
            <a:alphaModFix/>
          </a:blip>
          <a:srcRect/>
          <a:stretch/>
        </p:blipFill>
        <p:spPr>
          <a:xfrm>
            <a:off x="6715125" y="3059459"/>
            <a:ext cx="171450" cy="171450"/>
          </a:xfrm>
          <a:prstGeom prst="rect">
            <a:avLst/>
          </a:prstGeom>
          <a:noFill/>
          <a:ln>
            <a:noFill/>
          </a:ln>
        </p:spPr>
      </p:pic>
      <p:sp>
        <p:nvSpPr>
          <p:cNvPr id="343" name="Google Shape;343;p30"/>
          <p:cNvSpPr txBox="1"/>
          <p:nvPr/>
        </p:nvSpPr>
        <p:spPr>
          <a:xfrm>
            <a:off x="6991350" y="373186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344" name="Google Shape;344;p30"/>
          <p:cNvSpPr txBox="1"/>
          <p:nvPr/>
        </p:nvSpPr>
        <p:spPr>
          <a:xfrm>
            <a:off x="7096125" y="3731865"/>
            <a:ext cx="423862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Navbar (Badge số lượng)</a:t>
            </a:r>
            <a:endParaRPr/>
          </a:p>
        </p:txBody>
      </p:sp>
      <p:sp>
        <p:nvSpPr>
          <p:cNvPr id="345" name="Google Shape;345;p30"/>
          <p:cNvSpPr txBox="1"/>
          <p:nvPr/>
        </p:nvSpPr>
        <p:spPr>
          <a:xfrm>
            <a:off x="6991350" y="403666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346" name="Google Shape;346;p30"/>
          <p:cNvSpPr txBox="1"/>
          <p:nvPr/>
        </p:nvSpPr>
        <p:spPr>
          <a:xfrm>
            <a:off x="7096125" y="4036665"/>
            <a:ext cx="423862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Trang danh sách (Nút mua)</a:t>
            </a:r>
            <a:endParaRPr/>
          </a:p>
        </p:txBody>
      </p:sp>
      <p:sp>
        <p:nvSpPr>
          <p:cNvPr id="347" name="Google Shape;347;p30"/>
          <p:cNvSpPr txBox="1"/>
          <p:nvPr/>
        </p:nvSpPr>
        <p:spPr>
          <a:xfrm>
            <a:off x="6991350" y="434146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348" name="Google Shape;348;p30"/>
          <p:cNvSpPr txBox="1"/>
          <p:nvPr/>
        </p:nvSpPr>
        <p:spPr>
          <a:xfrm>
            <a:off x="7096125" y="4341465"/>
            <a:ext cx="423862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Trang chi tiết</a:t>
            </a:r>
            <a:endParaRPr/>
          </a:p>
        </p:txBody>
      </p:sp>
      <p:sp>
        <p:nvSpPr>
          <p:cNvPr id="349" name="Google Shape;349;p30"/>
          <p:cNvSpPr txBox="1"/>
          <p:nvPr/>
        </p:nvSpPr>
        <p:spPr>
          <a:xfrm>
            <a:off x="6991350" y="464626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350" name="Google Shape;350;p30"/>
          <p:cNvSpPr txBox="1"/>
          <p:nvPr/>
        </p:nvSpPr>
        <p:spPr>
          <a:xfrm>
            <a:off x="7096125" y="4646265"/>
            <a:ext cx="423862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Trang thanh toán</a:t>
            </a:r>
            <a:endParaRPr/>
          </a:p>
        </p:txBody>
      </p:sp>
      <p:sp>
        <p:nvSpPr>
          <p:cNvPr id="351" name="Google Shape;351;p30"/>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XỬ LÝ LOGIC GIỎ HÀNG</a:t>
            </a:r>
            <a:endParaRPr/>
          </a:p>
        </p:txBody>
      </p:sp>
      <p:sp>
        <p:nvSpPr>
          <p:cNvPr id="352" name="Google Shape;352;p30"/>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56"/>
        <p:cNvGrpSpPr/>
        <p:nvPr/>
      </p:nvGrpSpPr>
      <p:grpSpPr>
        <a:xfrm>
          <a:off x="0" y="0"/>
          <a:ext cx="0" cy="0"/>
          <a:chOff x="0" y="0"/>
          <a:chExt cx="0" cy="0"/>
        </a:xfrm>
      </p:grpSpPr>
      <p:pic>
        <p:nvPicPr>
          <p:cNvPr id="357" name="Google Shape;357;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8" name="Google Shape;358;p31" descr="image.png"/>
          <p:cNvPicPr preferRelativeResize="0"/>
          <p:nvPr/>
        </p:nvPicPr>
        <p:blipFill rotWithShape="1">
          <a:blip r:embed="rId4">
            <a:alphaModFix/>
          </a:blip>
          <a:srcRect/>
          <a:stretch/>
        </p:blipFill>
        <p:spPr>
          <a:xfrm>
            <a:off x="571500" y="1957387"/>
            <a:ext cx="5238750" cy="3810000"/>
          </a:xfrm>
          <a:prstGeom prst="rect">
            <a:avLst/>
          </a:prstGeom>
          <a:noFill/>
          <a:ln>
            <a:noFill/>
          </a:ln>
        </p:spPr>
      </p:pic>
      <p:pic>
        <p:nvPicPr>
          <p:cNvPr id="359" name="Google Shape;359;p31" descr="image.png"/>
          <p:cNvPicPr preferRelativeResize="0"/>
          <p:nvPr/>
        </p:nvPicPr>
        <p:blipFill rotWithShape="1">
          <a:blip r:embed="rId5">
            <a:alphaModFix/>
          </a:blip>
          <a:srcRect/>
          <a:stretch/>
        </p:blipFill>
        <p:spPr>
          <a:xfrm>
            <a:off x="6381750" y="3359497"/>
            <a:ext cx="5238750" cy="2263080"/>
          </a:xfrm>
          <a:prstGeom prst="rect">
            <a:avLst/>
          </a:prstGeom>
          <a:noFill/>
          <a:ln>
            <a:noFill/>
          </a:ln>
        </p:spPr>
      </p:pic>
      <p:pic>
        <p:nvPicPr>
          <p:cNvPr id="360" name="Google Shape;360;p31" descr="image.png"/>
          <p:cNvPicPr preferRelativeResize="0"/>
          <p:nvPr/>
        </p:nvPicPr>
        <p:blipFill rotWithShape="1">
          <a:blip r:embed="rId6">
            <a:alphaModFix/>
          </a:blip>
          <a:srcRect/>
          <a:stretch/>
        </p:blipFill>
        <p:spPr>
          <a:xfrm>
            <a:off x="581025" y="1966912"/>
            <a:ext cx="5219700" cy="3790950"/>
          </a:xfrm>
          <a:prstGeom prst="rect">
            <a:avLst/>
          </a:prstGeom>
          <a:noFill/>
          <a:ln>
            <a:noFill/>
          </a:ln>
        </p:spPr>
      </p:pic>
      <p:sp>
        <p:nvSpPr>
          <p:cNvPr id="361" name="Google Shape;361;p31"/>
          <p:cNvSpPr txBox="1"/>
          <p:nvPr/>
        </p:nvSpPr>
        <p:spPr>
          <a:xfrm>
            <a:off x="6381750" y="2102197"/>
            <a:ext cx="550068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FFFFF"/>
                </a:solidFill>
                <a:latin typeface="Urbanist"/>
                <a:ea typeface="Urbanist"/>
                <a:cs typeface="Urbanist"/>
                <a:sym typeface="Urbanist"/>
              </a:rPr>
              <a:t>Vấn đề: Mất dữ liệu khi Refresh</a:t>
            </a:r>
            <a:endParaRPr/>
          </a:p>
        </p:txBody>
      </p:sp>
      <p:sp>
        <p:nvSpPr>
          <p:cNvPr id="362" name="Google Shape;362;p31"/>
          <p:cNvSpPr txBox="1"/>
          <p:nvPr/>
        </p:nvSpPr>
        <p:spPr>
          <a:xfrm>
            <a:off x="6381750" y="2511772"/>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Mặc định State trong React sẽ bị xóa sạch khi người dùng làm mới trang web.</a:t>
            </a:r>
            <a:endParaRPr/>
          </a:p>
        </p:txBody>
      </p:sp>
      <p:sp>
        <p:nvSpPr>
          <p:cNvPr id="363" name="Google Shape;363;p31"/>
          <p:cNvSpPr txBox="1"/>
          <p:nvPr/>
        </p:nvSpPr>
        <p:spPr>
          <a:xfrm>
            <a:off x="6619875" y="3597622"/>
            <a:ext cx="4762500" cy="9239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Giải pháp:</a:t>
            </a:r>
            <a:r>
              <a:rPr lang="en-US" sz="1500" b="0" i="0" u="none" strike="noStrike" cap="none">
                <a:solidFill>
                  <a:srgbClr val="CBD5E1"/>
                </a:solidFill>
                <a:latin typeface="Inter"/>
                <a:ea typeface="Inter"/>
                <a:cs typeface="Inter"/>
                <a:sym typeface="Inter"/>
              </a:rPr>
              <a:t> Sử dụng hook useEffect để lắng nghe thay đổi của giỏ hàng và đồng bộ hóa tự động vào </a:t>
            </a:r>
            <a:r>
              <a:rPr lang="en-US" sz="1500" b="1" i="0" u="none" strike="noStrike" cap="none">
                <a:solidFill>
                  <a:srgbClr val="06B6D4"/>
                </a:solidFill>
                <a:latin typeface="Inter"/>
                <a:ea typeface="Inter"/>
                <a:cs typeface="Inter"/>
                <a:sym typeface="Inter"/>
              </a:rPr>
              <a:t>Window.localStorage</a:t>
            </a:r>
            <a:r>
              <a:rPr lang="en-US" sz="1500" b="0" i="0" u="none" strike="noStrike" cap="none">
                <a:solidFill>
                  <a:srgbClr val="CBD5E1"/>
                </a:solidFill>
                <a:latin typeface="Inter"/>
                <a:ea typeface="Inter"/>
                <a:cs typeface="Inter"/>
                <a:sym typeface="Inter"/>
              </a:rPr>
              <a:t>.</a:t>
            </a:r>
            <a:endParaRPr/>
          </a:p>
        </p:txBody>
      </p:sp>
      <p:sp>
        <p:nvSpPr>
          <p:cNvPr id="364" name="Google Shape;364;p31"/>
          <p:cNvSpPr txBox="1"/>
          <p:nvPr/>
        </p:nvSpPr>
        <p:spPr>
          <a:xfrm>
            <a:off x="6619875" y="4664422"/>
            <a:ext cx="47625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CBD5E1"/>
                </a:solidFill>
                <a:latin typeface="Inter"/>
                <a:ea typeface="Inter"/>
                <a:cs typeface="Inter"/>
                <a:sym typeface="Inter"/>
              </a:rPr>
              <a:t>Khách hàng có thể quay lại mua sắm mà không lo mất giỏ hàng cũ.</a:t>
            </a:r>
            <a:endParaRPr/>
          </a:p>
        </p:txBody>
      </p:sp>
      <p:sp>
        <p:nvSpPr>
          <p:cNvPr id="365" name="Google Shape;365;p31"/>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LƯU TRỮ BỀN VỮNG (LOCALSTORAGE)</a:t>
            </a:r>
            <a:endParaRPr/>
          </a:p>
        </p:txBody>
      </p:sp>
      <p:sp>
        <p:nvSpPr>
          <p:cNvPr id="366" name="Google Shape;366;p31"/>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70"/>
        <p:cNvGrpSpPr/>
        <p:nvPr/>
      </p:nvGrpSpPr>
      <p:grpSpPr>
        <a:xfrm>
          <a:off x="0" y="0"/>
          <a:ext cx="0" cy="0"/>
          <a:chOff x="0" y="0"/>
          <a:chExt cx="0" cy="0"/>
        </a:xfrm>
      </p:grpSpPr>
      <p:sp>
        <p:nvSpPr>
          <p:cNvPr id="371" name="Google Shape;371;p32"/>
          <p:cNvSpPr txBox="1"/>
          <p:nvPr/>
        </p:nvSpPr>
        <p:spPr>
          <a:xfrm>
            <a:off x="295275" y="2371725"/>
            <a:ext cx="11601450"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6B6D4"/>
                </a:solidFill>
                <a:latin typeface="Urbanist"/>
                <a:ea typeface="Urbanist"/>
                <a:cs typeface="Urbanist"/>
                <a:sym typeface="Urbanist"/>
              </a:rPr>
              <a:t>CHƯƠNG 4</a:t>
            </a:r>
            <a:endParaRPr/>
          </a:p>
        </p:txBody>
      </p:sp>
      <p:sp>
        <p:nvSpPr>
          <p:cNvPr id="372" name="Google Shape;372;p32"/>
          <p:cNvSpPr txBox="1"/>
          <p:nvPr/>
        </p:nvSpPr>
        <p:spPr>
          <a:xfrm>
            <a:off x="295275" y="2828925"/>
            <a:ext cx="11601450"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06B6D4"/>
                </a:solidFill>
                <a:latin typeface="Urbanist"/>
                <a:ea typeface="Urbanist"/>
                <a:cs typeface="Urbanist"/>
                <a:sym typeface="Urbanist"/>
              </a:rPr>
              <a:t>KẾT QUẢ NGHIÊN CỨU</a:t>
            </a:r>
            <a:endParaRPr/>
          </a:p>
        </p:txBody>
      </p:sp>
      <p:sp>
        <p:nvSpPr>
          <p:cNvPr id="373" name="Google Shape;373;p32"/>
          <p:cNvSpPr/>
          <p:nvPr/>
        </p:nvSpPr>
        <p:spPr>
          <a:xfrm>
            <a:off x="5381625" y="4048125"/>
            <a:ext cx="1428750" cy="5715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pic>
        <p:nvPicPr>
          <p:cNvPr id="378" name="Google Shape;378;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9" name="Google Shape;379;p33" descr="image.png"/>
          <p:cNvPicPr preferRelativeResize="0"/>
          <p:nvPr/>
        </p:nvPicPr>
        <p:blipFill rotWithShape="1">
          <a:blip r:embed="rId4">
            <a:alphaModFix/>
          </a:blip>
          <a:srcRect/>
          <a:stretch/>
        </p:blipFill>
        <p:spPr>
          <a:xfrm>
            <a:off x="1914525" y="1198215"/>
            <a:ext cx="8362950" cy="4461420"/>
          </a:xfrm>
          <a:prstGeom prst="rect">
            <a:avLst/>
          </a:prstGeom>
          <a:noFill/>
          <a:ln>
            <a:noFill/>
          </a:ln>
        </p:spPr>
      </p:pic>
      <p:sp>
        <p:nvSpPr>
          <p:cNvPr id="380" name="Google Shape;380;p33"/>
          <p:cNvSpPr txBox="1"/>
          <p:nvPr/>
        </p:nvSpPr>
        <p:spPr>
          <a:xfrm>
            <a:off x="2315527" y="1779240"/>
            <a:ext cx="7560945" cy="552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Urbanist"/>
                <a:ea typeface="Urbanist"/>
                <a:cs typeface="Urbanist"/>
                <a:sym typeface="Urbanist"/>
              </a:rPr>
              <a:t>Giao Diện Trang Chủ</a:t>
            </a:r>
            <a:endParaRPr/>
          </a:p>
        </p:txBody>
      </p:sp>
      <p:sp>
        <p:nvSpPr>
          <p:cNvPr id="381" name="Google Shape;381;p33"/>
          <p:cNvSpPr txBox="1"/>
          <p:nvPr/>
        </p:nvSpPr>
        <p:spPr>
          <a:xfrm>
            <a:off x="2495550" y="2560290"/>
            <a:ext cx="72009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CBD5E1"/>
                </a:solidFill>
                <a:latin typeface="Inter"/>
                <a:ea typeface="Inter"/>
                <a:cs typeface="Inter"/>
                <a:sym typeface="Inter"/>
              </a:rPr>
              <a:t>Hệ thống đạt tiêu chuẩn hiện đại, phong cách </a:t>
            </a:r>
            <a:r>
              <a:rPr lang="en-US" sz="1800" b="1" i="0" u="none" strike="noStrike" cap="none">
                <a:solidFill>
                  <a:srgbClr val="06B6D4"/>
                </a:solidFill>
                <a:latin typeface="Inter"/>
                <a:ea typeface="Inter"/>
                <a:cs typeface="Inter"/>
                <a:sym typeface="Inter"/>
              </a:rPr>
              <a:t>Minimalism</a:t>
            </a:r>
            <a:r>
              <a:rPr lang="en-US" sz="1800" b="0" i="0" u="none" strike="noStrike" cap="none">
                <a:solidFill>
                  <a:srgbClr val="CBD5E1"/>
                </a:solidFill>
                <a:latin typeface="Inter"/>
                <a:ea typeface="Inter"/>
                <a:cs typeface="Inter"/>
                <a:sym typeface="Inter"/>
              </a:rPr>
              <a:t> tối giản.</a:t>
            </a:r>
            <a:endParaRPr/>
          </a:p>
        </p:txBody>
      </p:sp>
      <p:sp>
        <p:nvSpPr>
          <p:cNvPr id="382" name="Google Shape;382;p33"/>
          <p:cNvSpPr txBox="1"/>
          <p:nvPr/>
        </p:nvSpPr>
        <p:spPr>
          <a:xfrm>
            <a:off x="3781425" y="3592710"/>
            <a:ext cx="53911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Logo và thanh điều hướng cố định (Fixed Navbar).</a:t>
            </a:r>
            <a:endParaRPr/>
          </a:p>
        </p:txBody>
      </p:sp>
      <p:sp>
        <p:nvSpPr>
          <p:cNvPr id="383" name="Google Shape;383;p33"/>
          <p:cNvSpPr txBox="1"/>
          <p:nvPr/>
        </p:nvSpPr>
        <p:spPr>
          <a:xfrm>
            <a:off x="3781425" y="4088010"/>
            <a:ext cx="53911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Banner slider thu hút, làm nổi bật chương trình khuyến mãi.</a:t>
            </a:r>
            <a:endParaRPr/>
          </a:p>
        </p:txBody>
      </p:sp>
      <p:sp>
        <p:nvSpPr>
          <p:cNvPr id="384" name="Google Shape;384;p33"/>
          <p:cNvSpPr txBox="1"/>
          <p:nvPr/>
        </p:nvSpPr>
        <p:spPr>
          <a:xfrm>
            <a:off x="3781425" y="4583310"/>
            <a:ext cx="53911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Lưới sản phẩm hiển thị thông tin giá, tên, hãng sắc nét.</a:t>
            </a:r>
            <a:endParaRPr/>
          </a:p>
        </p:txBody>
      </p:sp>
      <p:pic>
        <p:nvPicPr>
          <p:cNvPr id="385" name="Google Shape;385;p33" descr="image.png"/>
          <p:cNvPicPr preferRelativeResize="0"/>
          <p:nvPr/>
        </p:nvPicPr>
        <p:blipFill rotWithShape="1">
          <a:blip r:embed="rId5">
            <a:alphaModFix/>
          </a:blip>
          <a:srcRect/>
          <a:stretch/>
        </p:blipFill>
        <p:spPr>
          <a:xfrm>
            <a:off x="3400425" y="3592710"/>
            <a:ext cx="190500" cy="200025"/>
          </a:xfrm>
          <a:prstGeom prst="rect">
            <a:avLst/>
          </a:prstGeom>
          <a:noFill/>
          <a:ln>
            <a:noFill/>
          </a:ln>
        </p:spPr>
      </p:pic>
      <p:pic>
        <p:nvPicPr>
          <p:cNvPr id="386" name="Google Shape;386;p33" descr="image.png"/>
          <p:cNvPicPr preferRelativeResize="0"/>
          <p:nvPr/>
        </p:nvPicPr>
        <p:blipFill rotWithShape="1">
          <a:blip r:embed="rId5">
            <a:alphaModFix/>
          </a:blip>
          <a:srcRect/>
          <a:stretch/>
        </p:blipFill>
        <p:spPr>
          <a:xfrm>
            <a:off x="3400425" y="4088010"/>
            <a:ext cx="190500" cy="200025"/>
          </a:xfrm>
          <a:prstGeom prst="rect">
            <a:avLst/>
          </a:prstGeom>
          <a:noFill/>
          <a:ln>
            <a:noFill/>
          </a:ln>
        </p:spPr>
      </p:pic>
      <p:pic>
        <p:nvPicPr>
          <p:cNvPr id="387" name="Google Shape;387;p33" descr="image.png"/>
          <p:cNvPicPr preferRelativeResize="0"/>
          <p:nvPr/>
        </p:nvPicPr>
        <p:blipFill rotWithShape="1">
          <a:blip r:embed="rId5">
            <a:alphaModFix/>
          </a:blip>
          <a:srcRect/>
          <a:stretch/>
        </p:blipFill>
        <p:spPr>
          <a:xfrm>
            <a:off x="3400425" y="4583310"/>
            <a:ext cx="190500" cy="200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91"/>
        <p:cNvGrpSpPr/>
        <p:nvPr/>
      </p:nvGrpSpPr>
      <p:grpSpPr>
        <a:xfrm>
          <a:off x="0" y="0"/>
          <a:ext cx="0" cy="0"/>
          <a:chOff x="0" y="0"/>
          <a:chExt cx="0" cy="0"/>
        </a:xfrm>
      </p:grpSpPr>
      <p:pic>
        <p:nvPicPr>
          <p:cNvPr id="392" name="Google Shape;392;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95" name="Google Shape;395;p34"/>
          <p:cNvSpPr txBox="1"/>
          <p:nvPr/>
        </p:nvSpPr>
        <p:spPr>
          <a:xfrm>
            <a:off x="438150" y="4856857"/>
            <a:ext cx="5600700"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dirty="0" err="1">
                <a:solidFill>
                  <a:srgbClr val="FFFFFF"/>
                </a:solidFill>
                <a:latin typeface="Urbanist"/>
                <a:ea typeface="Urbanist"/>
                <a:cs typeface="Urbanist"/>
                <a:sym typeface="Urbanist"/>
              </a:rPr>
              <a:t>Tìm</a:t>
            </a:r>
            <a:r>
              <a:rPr lang="en-US" sz="1404" b="1" i="0" u="none" strike="noStrike" cap="none" dirty="0">
                <a:solidFill>
                  <a:srgbClr val="FFFFFF"/>
                </a:solidFill>
                <a:latin typeface="Urbanist"/>
                <a:ea typeface="Urbanist"/>
                <a:cs typeface="Urbanist"/>
                <a:sym typeface="Urbanist"/>
              </a:rPr>
              <a:t> </a:t>
            </a:r>
            <a:r>
              <a:rPr lang="en-US" sz="1404" b="1" i="0" u="none" strike="noStrike" cap="none" dirty="0" err="1">
                <a:solidFill>
                  <a:srgbClr val="FFFFFF"/>
                </a:solidFill>
                <a:latin typeface="Urbanist"/>
                <a:ea typeface="Urbanist"/>
                <a:cs typeface="Urbanist"/>
                <a:sym typeface="Urbanist"/>
              </a:rPr>
              <a:t>kiếm</a:t>
            </a:r>
            <a:r>
              <a:rPr lang="en-US" sz="1404" b="1" i="0" u="none" strike="noStrike" cap="none" dirty="0">
                <a:solidFill>
                  <a:srgbClr val="FFFFFF"/>
                </a:solidFill>
                <a:latin typeface="Urbanist"/>
                <a:ea typeface="Urbanist"/>
                <a:cs typeface="Urbanist"/>
                <a:sym typeface="Urbanist"/>
              </a:rPr>
              <a:t> </a:t>
            </a:r>
            <a:r>
              <a:rPr lang="en-US" sz="1404" b="1" i="0" u="none" strike="noStrike" cap="none" dirty="0" err="1">
                <a:solidFill>
                  <a:srgbClr val="FFFFFF"/>
                </a:solidFill>
                <a:latin typeface="Urbanist"/>
                <a:ea typeface="Urbanist"/>
                <a:cs typeface="Urbanist"/>
                <a:sym typeface="Urbanist"/>
              </a:rPr>
              <a:t>thời</a:t>
            </a:r>
            <a:r>
              <a:rPr lang="en-US" sz="1404" b="1" i="0" u="none" strike="noStrike" cap="none" dirty="0">
                <a:solidFill>
                  <a:srgbClr val="FFFFFF"/>
                </a:solidFill>
                <a:latin typeface="Urbanist"/>
                <a:ea typeface="Urbanist"/>
                <a:cs typeface="Urbanist"/>
                <a:sym typeface="Urbanist"/>
              </a:rPr>
              <a:t> </a:t>
            </a:r>
            <a:r>
              <a:rPr lang="en-US" sz="1404" b="1" i="0" u="none" strike="noStrike" cap="none" dirty="0" err="1">
                <a:solidFill>
                  <a:srgbClr val="FFFFFF"/>
                </a:solidFill>
                <a:latin typeface="Urbanist"/>
                <a:ea typeface="Urbanist"/>
                <a:cs typeface="Urbanist"/>
                <a:sym typeface="Urbanist"/>
              </a:rPr>
              <a:t>gian</a:t>
            </a:r>
            <a:r>
              <a:rPr lang="en-US" sz="1404" b="1" i="0" u="none" strike="noStrike" cap="none" dirty="0">
                <a:solidFill>
                  <a:srgbClr val="FFFFFF"/>
                </a:solidFill>
                <a:latin typeface="Urbanist"/>
                <a:ea typeface="Urbanist"/>
                <a:cs typeface="Urbanist"/>
                <a:sym typeface="Urbanist"/>
              </a:rPr>
              <a:t> </a:t>
            </a:r>
            <a:r>
              <a:rPr lang="en-US" sz="1404" b="1" i="0" u="none" strike="noStrike" cap="none" dirty="0" err="1">
                <a:solidFill>
                  <a:srgbClr val="FFFFFF"/>
                </a:solidFill>
                <a:latin typeface="Urbanist"/>
                <a:ea typeface="Urbanist"/>
                <a:cs typeface="Urbanist"/>
                <a:sym typeface="Urbanist"/>
              </a:rPr>
              <a:t>thực</a:t>
            </a:r>
            <a:endParaRPr dirty="0"/>
          </a:p>
        </p:txBody>
      </p:sp>
      <p:sp>
        <p:nvSpPr>
          <p:cNvPr id="396" name="Google Shape;396;p34"/>
          <p:cNvSpPr txBox="1"/>
          <p:nvPr/>
        </p:nvSpPr>
        <p:spPr>
          <a:xfrm>
            <a:off x="571500" y="5228332"/>
            <a:ext cx="53340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Phản hồi kết quả ngay lập tức khi người dùng gõ phím mà không cần tải lại trang.</a:t>
            </a:r>
            <a:endParaRPr/>
          </a:p>
        </p:txBody>
      </p:sp>
      <p:sp>
        <p:nvSpPr>
          <p:cNvPr id="397" name="Google Shape;397;p34"/>
          <p:cNvSpPr txBox="1"/>
          <p:nvPr/>
        </p:nvSpPr>
        <p:spPr>
          <a:xfrm>
            <a:off x="6153150" y="4856857"/>
            <a:ext cx="5600700"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FFFFF"/>
                </a:solidFill>
                <a:latin typeface="Urbanist"/>
                <a:ea typeface="Urbanist"/>
                <a:cs typeface="Urbanist"/>
                <a:sym typeface="Urbanist"/>
              </a:rPr>
              <a:t>Bộ lọc linh hoạt</a:t>
            </a:r>
            <a:endParaRPr/>
          </a:p>
        </p:txBody>
      </p:sp>
      <p:sp>
        <p:nvSpPr>
          <p:cNvPr id="398" name="Google Shape;398;p34"/>
          <p:cNvSpPr txBox="1"/>
          <p:nvPr/>
        </p:nvSpPr>
        <p:spPr>
          <a:xfrm>
            <a:off x="6286500" y="5228332"/>
            <a:ext cx="53340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Lọc theo hãng (iPhone, Samsung) và lọc khoảng giá giúp tối ưu hành trình tìm kiếm.</a:t>
            </a:r>
            <a:endParaRPr/>
          </a:p>
        </p:txBody>
      </p:sp>
      <p:sp>
        <p:nvSpPr>
          <p:cNvPr id="401" name="Google Shape;401;p34"/>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TÌM KIẾM &amp; BỘ LỌC THÔNG MINH</a:t>
            </a:r>
            <a:endParaRPr/>
          </a:p>
        </p:txBody>
      </p:sp>
      <p:sp>
        <p:nvSpPr>
          <p:cNvPr id="402" name="Google Shape;402;p34"/>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FD45D60E-F616-DA36-DA5D-1E9793C7C686}"/>
              </a:ext>
            </a:extLst>
          </p:cNvPr>
          <p:cNvPicPr>
            <a:picLocks noChangeAspect="1"/>
          </p:cNvPicPr>
          <p:nvPr/>
        </p:nvPicPr>
        <p:blipFill>
          <a:blip r:embed="rId4"/>
          <a:stretch>
            <a:fillRect/>
          </a:stretch>
        </p:blipFill>
        <p:spPr>
          <a:xfrm>
            <a:off x="1084082" y="1293236"/>
            <a:ext cx="4166648" cy="3420746"/>
          </a:xfrm>
          <a:prstGeom prst="rect">
            <a:avLst/>
          </a:prstGeom>
        </p:spPr>
      </p:pic>
      <p:pic>
        <p:nvPicPr>
          <p:cNvPr id="7" name="Picture 6">
            <a:extLst>
              <a:ext uri="{FF2B5EF4-FFF2-40B4-BE49-F238E27FC236}">
                <a16:creationId xmlns:a16="http://schemas.microsoft.com/office/drawing/2014/main" id="{54C50B8E-BABC-901E-6ADF-52165808E91B}"/>
              </a:ext>
            </a:extLst>
          </p:cNvPr>
          <p:cNvPicPr>
            <a:picLocks noChangeAspect="1"/>
          </p:cNvPicPr>
          <p:nvPr/>
        </p:nvPicPr>
        <p:blipFill>
          <a:blip r:embed="rId5"/>
          <a:stretch>
            <a:fillRect/>
          </a:stretch>
        </p:blipFill>
        <p:spPr>
          <a:xfrm>
            <a:off x="5382705" y="1293236"/>
            <a:ext cx="6664751" cy="34207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06"/>
        <p:cNvGrpSpPr/>
        <p:nvPr/>
      </p:nvGrpSpPr>
      <p:grpSpPr>
        <a:xfrm>
          <a:off x="0" y="0"/>
          <a:ext cx="0" cy="0"/>
          <a:chOff x="0" y="0"/>
          <a:chExt cx="0" cy="0"/>
        </a:xfrm>
      </p:grpSpPr>
      <p:pic>
        <p:nvPicPr>
          <p:cNvPr id="407" name="Google Shape;407;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08" name="Google Shape;408;p35"/>
          <p:cNvSpPr txBox="1"/>
          <p:nvPr/>
        </p:nvSpPr>
        <p:spPr>
          <a:xfrm>
            <a:off x="762000" y="1042987"/>
            <a:ext cx="50006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ĐÁNH GIÁ RESPONSIVE</a:t>
            </a:r>
            <a:endParaRPr/>
          </a:p>
        </p:txBody>
      </p:sp>
      <p:sp>
        <p:nvSpPr>
          <p:cNvPr id="409" name="Google Shape;409;p35"/>
          <p:cNvSpPr/>
          <p:nvPr/>
        </p:nvSpPr>
        <p:spPr>
          <a:xfrm>
            <a:off x="571500" y="1042987"/>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0" name="Google Shape;410;p35"/>
          <p:cNvSpPr txBox="1"/>
          <p:nvPr/>
        </p:nvSpPr>
        <p:spPr>
          <a:xfrm>
            <a:off x="571500" y="2100262"/>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Giao diện thích ứng hoàn hảo trên mọi thiết bị:</a:t>
            </a:r>
            <a:endParaRPr/>
          </a:p>
        </p:txBody>
      </p:sp>
      <p:sp>
        <p:nvSpPr>
          <p:cNvPr id="411" name="Google Shape;411;p35"/>
          <p:cNvSpPr txBox="1"/>
          <p:nvPr/>
        </p:nvSpPr>
        <p:spPr>
          <a:xfrm>
            <a:off x="571500" y="5014912"/>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94A3B8"/>
                </a:solidFill>
                <a:latin typeface="Inter"/>
                <a:ea typeface="Inter"/>
                <a:cs typeface="Inter"/>
                <a:sym typeface="Inter"/>
              </a:rPr>
              <a:t>Sử dụng tư duy Mobile-first giúp website cực kỳ gọn gàng trên màn hình nhỏ.</a:t>
            </a:r>
            <a:endParaRPr/>
          </a:p>
        </p:txBody>
      </p:sp>
      <p:pic>
        <p:nvPicPr>
          <p:cNvPr id="412" name="Google Shape;412;p35" descr="image.png"/>
          <p:cNvPicPr preferRelativeResize="0"/>
          <p:nvPr/>
        </p:nvPicPr>
        <p:blipFill rotWithShape="1">
          <a:blip r:embed="rId4">
            <a:alphaModFix/>
          </a:blip>
          <a:srcRect/>
          <a:stretch/>
        </p:blipFill>
        <p:spPr>
          <a:xfrm>
            <a:off x="6096000" y="0"/>
            <a:ext cx="1371600" cy="190500"/>
          </a:xfrm>
          <a:prstGeom prst="rect">
            <a:avLst/>
          </a:prstGeom>
          <a:noFill/>
          <a:ln>
            <a:noFill/>
          </a:ln>
        </p:spPr>
      </p:pic>
      <p:sp>
        <p:nvSpPr>
          <p:cNvPr id="413" name="Google Shape;413;p35"/>
          <p:cNvSpPr txBox="1"/>
          <p:nvPr/>
        </p:nvSpPr>
        <p:spPr>
          <a:xfrm>
            <a:off x="1333500" y="3033712"/>
            <a:ext cx="4191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Desktop:</a:t>
            </a:r>
            <a:r>
              <a:rPr lang="en-US" sz="1500" b="0" i="0" u="none" strike="noStrike" cap="none">
                <a:solidFill>
                  <a:srgbClr val="CBD5E1"/>
                </a:solidFill>
                <a:latin typeface="Inter"/>
                <a:ea typeface="Inter"/>
                <a:cs typeface="Inter"/>
                <a:sym typeface="Inter"/>
              </a:rPr>
              <a:t> Grid 4 cột sang trọng.</a:t>
            </a:r>
            <a:endParaRPr/>
          </a:p>
        </p:txBody>
      </p:sp>
      <p:sp>
        <p:nvSpPr>
          <p:cNvPr id="414" name="Google Shape;414;p35"/>
          <p:cNvSpPr txBox="1"/>
          <p:nvPr/>
        </p:nvSpPr>
        <p:spPr>
          <a:xfrm>
            <a:off x="1333500" y="3529012"/>
            <a:ext cx="4191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Tablet:</a:t>
            </a:r>
            <a:r>
              <a:rPr lang="en-US" sz="1500" b="0" i="0" u="none" strike="noStrike" cap="none">
                <a:solidFill>
                  <a:srgbClr val="CBD5E1"/>
                </a:solidFill>
                <a:latin typeface="Inter"/>
                <a:ea typeface="Inter"/>
                <a:cs typeface="Inter"/>
                <a:sym typeface="Inter"/>
              </a:rPr>
              <a:t> Grid 2 cột cân đối.</a:t>
            </a:r>
            <a:endParaRPr/>
          </a:p>
        </p:txBody>
      </p:sp>
      <p:sp>
        <p:nvSpPr>
          <p:cNvPr id="415" name="Google Shape;415;p35"/>
          <p:cNvSpPr txBox="1"/>
          <p:nvPr/>
        </p:nvSpPr>
        <p:spPr>
          <a:xfrm>
            <a:off x="1333500" y="4024312"/>
            <a:ext cx="4191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6B6D4"/>
                </a:solidFill>
                <a:latin typeface="Inter"/>
                <a:ea typeface="Inter"/>
                <a:cs typeface="Inter"/>
                <a:sym typeface="Inter"/>
              </a:rPr>
              <a:t>Mobile:</a:t>
            </a:r>
            <a:r>
              <a:rPr lang="en-US" sz="1500" b="0" i="0" u="none" strike="noStrike" cap="none">
                <a:solidFill>
                  <a:srgbClr val="CBD5E1"/>
                </a:solidFill>
                <a:latin typeface="Inter"/>
                <a:ea typeface="Inter"/>
                <a:cs typeface="Inter"/>
                <a:sym typeface="Inter"/>
              </a:rPr>
              <a:t> Grid 1 cột rõ ràng, nút bấm lớn dễ thao tác.</a:t>
            </a:r>
            <a:endParaRPr/>
          </a:p>
        </p:txBody>
      </p:sp>
      <p:pic>
        <p:nvPicPr>
          <p:cNvPr id="416" name="Google Shape;416;p35" descr="image.png"/>
          <p:cNvPicPr preferRelativeResize="0"/>
          <p:nvPr/>
        </p:nvPicPr>
        <p:blipFill rotWithShape="1">
          <a:blip r:embed="rId5">
            <a:alphaModFix/>
          </a:blip>
          <a:srcRect/>
          <a:stretch/>
        </p:blipFill>
        <p:spPr>
          <a:xfrm>
            <a:off x="952500" y="3033712"/>
            <a:ext cx="190500" cy="200025"/>
          </a:xfrm>
          <a:prstGeom prst="rect">
            <a:avLst/>
          </a:prstGeom>
          <a:noFill/>
          <a:ln>
            <a:noFill/>
          </a:ln>
        </p:spPr>
      </p:pic>
      <p:pic>
        <p:nvPicPr>
          <p:cNvPr id="417" name="Google Shape;417;p35" descr="image.png"/>
          <p:cNvPicPr preferRelativeResize="0"/>
          <p:nvPr/>
        </p:nvPicPr>
        <p:blipFill rotWithShape="1">
          <a:blip r:embed="rId5">
            <a:alphaModFix/>
          </a:blip>
          <a:srcRect/>
          <a:stretch/>
        </p:blipFill>
        <p:spPr>
          <a:xfrm>
            <a:off x="952500" y="3529012"/>
            <a:ext cx="190500" cy="200025"/>
          </a:xfrm>
          <a:prstGeom prst="rect">
            <a:avLst/>
          </a:prstGeom>
          <a:noFill/>
          <a:ln>
            <a:noFill/>
          </a:ln>
        </p:spPr>
      </p:pic>
      <p:pic>
        <p:nvPicPr>
          <p:cNvPr id="418" name="Google Shape;418;p35" descr="image.png"/>
          <p:cNvPicPr preferRelativeResize="0"/>
          <p:nvPr/>
        </p:nvPicPr>
        <p:blipFill rotWithShape="1">
          <a:blip r:embed="rId5">
            <a:alphaModFix/>
          </a:blip>
          <a:srcRect/>
          <a:stretch/>
        </p:blipFill>
        <p:spPr>
          <a:xfrm>
            <a:off x="952500" y="4024312"/>
            <a:ext cx="190500" cy="2000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22"/>
        <p:cNvGrpSpPr/>
        <p:nvPr/>
      </p:nvGrpSpPr>
      <p:grpSpPr>
        <a:xfrm>
          <a:off x="0" y="0"/>
          <a:ext cx="0" cy="0"/>
          <a:chOff x="0" y="0"/>
          <a:chExt cx="0" cy="0"/>
        </a:xfrm>
      </p:grpSpPr>
      <p:pic>
        <p:nvPicPr>
          <p:cNvPr id="423" name="Google Shape;423;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24" name="Google Shape;424;p36" descr="image.png"/>
          <p:cNvPicPr preferRelativeResize="0"/>
          <p:nvPr/>
        </p:nvPicPr>
        <p:blipFill rotWithShape="1">
          <a:blip r:embed="rId4">
            <a:alphaModFix/>
          </a:blip>
          <a:srcRect/>
          <a:stretch/>
        </p:blipFill>
        <p:spPr>
          <a:xfrm>
            <a:off x="571500" y="2926258"/>
            <a:ext cx="5238750" cy="1872257"/>
          </a:xfrm>
          <a:prstGeom prst="rect">
            <a:avLst/>
          </a:prstGeom>
          <a:noFill/>
          <a:ln>
            <a:noFill/>
          </a:ln>
        </p:spPr>
      </p:pic>
      <p:pic>
        <p:nvPicPr>
          <p:cNvPr id="425" name="Google Shape;425;p36" descr="image.png"/>
          <p:cNvPicPr preferRelativeResize="0"/>
          <p:nvPr/>
        </p:nvPicPr>
        <p:blipFill rotWithShape="1">
          <a:blip r:embed="rId5">
            <a:alphaModFix/>
          </a:blip>
          <a:srcRect/>
          <a:stretch/>
        </p:blipFill>
        <p:spPr>
          <a:xfrm>
            <a:off x="6381750" y="3055739"/>
            <a:ext cx="5238750" cy="1613296"/>
          </a:xfrm>
          <a:prstGeom prst="rect">
            <a:avLst/>
          </a:prstGeom>
          <a:noFill/>
          <a:ln>
            <a:noFill/>
          </a:ln>
        </p:spPr>
      </p:pic>
      <p:sp>
        <p:nvSpPr>
          <p:cNvPr id="426" name="Google Shape;426;p36"/>
          <p:cNvSpPr txBox="1"/>
          <p:nvPr/>
        </p:nvSpPr>
        <p:spPr>
          <a:xfrm>
            <a:off x="857250" y="3212008"/>
            <a:ext cx="4900612" cy="219075"/>
          </a:xfrm>
          <a:prstGeom prst="rect">
            <a:avLst/>
          </a:prstGeom>
          <a:noFill/>
          <a:ln>
            <a:noFill/>
          </a:ln>
        </p:spPr>
        <p:txBody>
          <a:bodyPr spcFirstLastPara="1" wrap="square" lIns="152400" tIns="0" rIns="0" bIns="0" anchor="t" anchorCtr="0">
            <a:spAutoFit/>
          </a:bodyPr>
          <a:lstStyle/>
          <a:p>
            <a:pPr marL="0" marR="0" lvl="0" indent="0" algn="l" rtl="0">
              <a:spcBef>
                <a:spcPts val="0"/>
              </a:spcBef>
              <a:spcAft>
                <a:spcPts val="0"/>
              </a:spcAft>
              <a:buNone/>
            </a:pPr>
            <a:r>
              <a:rPr lang="en-US" sz="1404" b="1" i="0" u="none" strike="noStrike" cap="none">
                <a:solidFill>
                  <a:srgbClr val="06B6D4"/>
                </a:solidFill>
                <a:latin typeface="Urbanist"/>
                <a:ea typeface="Urbanist"/>
                <a:cs typeface="Urbanist"/>
                <a:sym typeface="Urbanist"/>
              </a:rPr>
              <a:t>Kết quả đạt được</a:t>
            </a:r>
            <a:endParaRPr/>
          </a:p>
        </p:txBody>
      </p:sp>
      <p:sp>
        <p:nvSpPr>
          <p:cNvPr id="427" name="Google Shape;427;p36"/>
          <p:cNvSpPr txBox="1"/>
          <p:nvPr/>
        </p:nvSpPr>
        <p:spPr>
          <a:xfrm>
            <a:off x="857250" y="3573958"/>
            <a:ext cx="4667250" cy="776882"/>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dirty="0" err="1">
                <a:solidFill>
                  <a:srgbClr val="CBD5E1"/>
                </a:solidFill>
                <a:latin typeface="Inter"/>
                <a:ea typeface="Inter"/>
                <a:cs typeface="Inter"/>
                <a:sym typeface="Inter"/>
              </a:rPr>
              <a:t>Nắm</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vững</a:t>
            </a:r>
            <a:r>
              <a:rPr lang="en-US" sz="1275" b="0" i="0" u="none" strike="noStrike" cap="none" dirty="0">
                <a:solidFill>
                  <a:srgbClr val="CBD5E1"/>
                </a:solidFill>
                <a:latin typeface="Inter"/>
                <a:ea typeface="Inter"/>
                <a:cs typeface="Inter"/>
                <a:sym typeface="Inter"/>
              </a:rPr>
              <a:t> ReactJS, Context API, Tailwind. Hoàn </a:t>
            </a:r>
            <a:r>
              <a:rPr lang="en-US" sz="1275" b="0" i="0" u="none" strike="noStrike" cap="none" dirty="0" err="1">
                <a:solidFill>
                  <a:srgbClr val="CBD5E1"/>
                </a:solidFill>
                <a:latin typeface="Inter"/>
                <a:ea typeface="Inter"/>
                <a:cs typeface="Inter"/>
                <a:sym typeface="Inter"/>
              </a:rPr>
              <a:t>thiện</a:t>
            </a:r>
            <a:r>
              <a:rPr lang="en-US" sz="1275" b="0" i="0" u="none" strike="noStrike" cap="none" dirty="0">
                <a:solidFill>
                  <a:srgbClr val="CBD5E1"/>
                </a:solidFill>
                <a:latin typeface="Inter"/>
                <a:ea typeface="Inter"/>
                <a:cs typeface="Inter"/>
                <a:sym typeface="Inter"/>
              </a:rPr>
              <a:t> website </a:t>
            </a:r>
            <a:r>
              <a:rPr lang="en-US" sz="1275" b="0" i="0" u="none" strike="noStrike" cap="none" dirty="0" err="1">
                <a:solidFill>
                  <a:srgbClr val="CBD5E1"/>
                </a:solidFill>
                <a:latin typeface="Inter"/>
                <a:ea typeface="Inter"/>
                <a:cs typeface="Inter"/>
                <a:sym typeface="Inter"/>
              </a:rPr>
              <a:t>thương</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mại</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điện</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tử</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mượt</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mà</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đầy</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đủ</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chức</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năng</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cốt</a:t>
            </a:r>
            <a:r>
              <a:rPr lang="en-US" sz="1275" b="0" i="0" u="none" strike="noStrike" cap="none" dirty="0">
                <a:solidFill>
                  <a:srgbClr val="CBD5E1"/>
                </a:solidFill>
                <a:latin typeface="Inter"/>
                <a:ea typeface="Inter"/>
                <a:cs typeface="Inter"/>
                <a:sym typeface="Inter"/>
              </a:rPr>
              <a:t> </a:t>
            </a:r>
            <a:r>
              <a:rPr lang="en-US" sz="1275" b="0" i="0" u="none" strike="noStrike" cap="none" dirty="0" err="1">
                <a:solidFill>
                  <a:srgbClr val="CBD5E1"/>
                </a:solidFill>
                <a:latin typeface="Inter"/>
                <a:ea typeface="Inter"/>
                <a:cs typeface="Inter"/>
                <a:sym typeface="Inter"/>
              </a:rPr>
              <a:t>lõi</a:t>
            </a:r>
            <a:r>
              <a:rPr lang="en-US" sz="1275" b="0" i="0" u="none" strike="noStrike" cap="none" dirty="0">
                <a:solidFill>
                  <a:srgbClr val="CBD5E1"/>
                </a:solidFill>
                <a:latin typeface="Inter"/>
                <a:ea typeface="Inter"/>
                <a:cs typeface="Inter"/>
                <a:sym typeface="Inter"/>
              </a:rPr>
              <a:t>.</a:t>
            </a:r>
            <a:endParaRPr dirty="0"/>
          </a:p>
        </p:txBody>
      </p:sp>
      <p:sp>
        <p:nvSpPr>
          <p:cNvPr id="428" name="Google Shape;428;p36"/>
          <p:cNvSpPr txBox="1"/>
          <p:nvPr/>
        </p:nvSpPr>
        <p:spPr>
          <a:xfrm>
            <a:off x="6667500" y="3341489"/>
            <a:ext cx="4900612" cy="219075"/>
          </a:xfrm>
          <a:prstGeom prst="rect">
            <a:avLst/>
          </a:prstGeom>
          <a:noFill/>
          <a:ln>
            <a:noFill/>
          </a:ln>
        </p:spPr>
        <p:txBody>
          <a:bodyPr spcFirstLastPara="1" wrap="square" lIns="180975" tIns="0" rIns="0" bIns="0" anchor="t" anchorCtr="0">
            <a:spAutoFit/>
          </a:bodyPr>
          <a:lstStyle/>
          <a:p>
            <a:pPr marL="0" marR="0" lvl="0" indent="0" algn="l" rtl="0">
              <a:spcBef>
                <a:spcPts val="0"/>
              </a:spcBef>
              <a:spcAft>
                <a:spcPts val="0"/>
              </a:spcAft>
              <a:buNone/>
            </a:pPr>
            <a:r>
              <a:rPr lang="en-US" sz="1404" b="1" i="0" u="none" strike="noStrike" cap="none">
                <a:solidFill>
                  <a:srgbClr val="FACC15"/>
                </a:solidFill>
                <a:latin typeface="Urbanist"/>
                <a:ea typeface="Urbanist"/>
                <a:cs typeface="Urbanist"/>
                <a:sym typeface="Urbanist"/>
              </a:rPr>
              <a:t>Hướng tương lai</a:t>
            </a:r>
            <a:endParaRPr/>
          </a:p>
        </p:txBody>
      </p:sp>
      <p:sp>
        <p:nvSpPr>
          <p:cNvPr id="429" name="Google Shape;429;p36"/>
          <p:cNvSpPr txBox="1"/>
          <p:nvPr/>
        </p:nvSpPr>
        <p:spPr>
          <a:xfrm>
            <a:off x="6667500" y="3703439"/>
            <a:ext cx="4667250" cy="517921"/>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a:solidFill>
                  <a:srgbClr val="CBD5E1"/>
                </a:solidFill>
                <a:latin typeface="Inter"/>
                <a:ea typeface="Inter"/>
                <a:cs typeface="Inter"/>
                <a:sym typeface="Inter"/>
              </a:rPr>
              <a:t>Xây dựng Backend (NodeJS/Firebase), tích hợp thanh toán Momo/ZaloPay và tối ưu hóa SEO bằng SSR.</a:t>
            </a:r>
            <a:endParaRPr/>
          </a:p>
        </p:txBody>
      </p:sp>
      <p:pic>
        <p:nvPicPr>
          <p:cNvPr id="430" name="Google Shape;430;p36" descr="image.png"/>
          <p:cNvPicPr preferRelativeResize="0"/>
          <p:nvPr/>
        </p:nvPicPr>
        <p:blipFill rotWithShape="1">
          <a:blip r:embed="rId6">
            <a:alphaModFix/>
          </a:blip>
          <a:srcRect/>
          <a:stretch/>
        </p:blipFill>
        <p:spPr>
          <a:xfrm>
            <a:off x="857250" y="3231058"/>
            <a:ext cx="152400" cy="178296"/>
          </a:xfrm>
          <a:prstGeom prst="rect">
            <a:avLst/>
          </a:prstGeom>
          <a:noFill/>
          <a:ln>
            <a:noFill/>
          </a:ln>
        </p:spPr>
      </p:pic>
      <p:pic>
        <p:nvPicPr>
          <p:cNvPr id="431" name="Google Shape;431;p36" descr="image.png"/>
          <p:cNvPicPr preferRelativeResize="0"/>
          <p:nvPr/>
        </p:nvPicPr>
        <p:blipFill rotWithShape="1">
          <a:blip r:embed="rId7">
            <a:alphaModFix/>
          </a:blip>
          <a:srcRect/>
          <a:stretch/>
        </p:blipFill>
        <p:spPr>
          <a:xfrm>
            <a:off x="6667500" y="3360539"/>
            <a:ext cx="180975" cy="178296"/>
          </a:xfrm>
          <a:prstGeom prst="rect">
            <a:avLst/>
          </a:prstGeom>
          <a:noFill/>
          <a:ln>
            <a:noFill/>
          </a:ln>
        </p:spPr>
      </p:pic>
      <p:sp>
        <p:nvSpPr>
          <p:cNvPr id="432" name="Google Shape;432;p36"/>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KẾT LUẬN &amp; HƯỚNG PHÁT TRIỂN</a:t>
            </a:r>
            <a:endParaRPr/>
          </a:p>
        </p:txBody>
      </p:sp>
      <p:sp>
        <p:nvSpPr>
          <p:cNvPr id="433" name="Google Shape;433;p36"/>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pic>
        <p:nvPicPr>
          <p:cNvPr id="438" name="Google Shape;438;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39" name="Google Shape;439;p37"/>
          <p:cNvSpPr txBox="1"/>
          <p:nvPr/>
        </p:nvSpPr>
        <p:spPr>
          <a:xfrm>
            <a:off x="295275" y="1807964"/>
            <a:ext cx="11601450" cy="10477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7500" b="1" i="0" u="none" strike="noStrike" cap="none">
                <a:solidFill>
                  <a:srgbClr val="06B6D4"/>
                </a:solidFill>
                <a:latin typeface="Urbanist"/>
                <a:ea typeface="Urbanist"/>
                <a:cs typeface="Urbanist"/>
                <a:sym typeface="Urbanist"/>
              </a:rPr>
              <a:t>CẢM ƠN!</a:t>
            </a:r>
            <a:endParaRPr/>
          </a:p>
        </p:txBody>
      </p:sp>
      <p:sp>
        <p:nvSpPr>
          <p:cNvPr id="440" name="Google Shape;440;p37"/>
          <p:cNvSpPr txBox="1"/>
          <p:nvPr/>
        </p:nvSpPr>
        <p:spPr>
          <a:xfrm>
            <a:off x="571500" y="3046214"/>
            <a:ext cx="110490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a:solidFill>
                  <a:srgbClr val="FFFFFF"/>
                </a:solidFill>
                <a:latin typeface="Inter"/>
                <a:ea typeface="Inter"/>
                <a:cs typeface="Inter"/>
                <a:sym typeface="Inter"/>
              </a:rPr>
              <a:t>Quý Thầy/Cô và các bạn đã lắng nghe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46"/>
        <p:cNvGrpSpPr/>
        <p:nvPr/>
      </p:nvGrpSpPr>
      <p:grpSpPr>
        <a:xfrm>
          <a:off x="0" y="0"/>
          <a:ext cx="0" cy="0"/>
          <a:chOff x="0" y="0"/>
          <a:chExt cx="0" cy="0"/>
        </a:xfrm>
      </p:grpSpPr>
      <p:pic>
        <p:nvPicPr>
          <p:cNvPr id="447" name="Google Shape;447;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48" name="Google Shape;448;p38"/>
          <p:cNvSpPr/>
          <p:nvPr/>
        </p:nvSpPr>
        <p:spPr>
          <a:xfrm>
            <a:off x="571500" y="1438275"/>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9" name="Google Shape;449;p38"/>
          <p:cNvSpPr/>
          <p:nvPr/>
        </p:nvSpPr>
        <p:spPr>
          <a:xfrm>
            <a:off x="571500" y="2223045"/>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0" name="Google Shape;450;p38"/>
          <p:cNvSpPr/>
          <p:nvPr/>
        </p:nvSpPr>
        <p:spPr>
          <a:xfrm>
            <a:off x="571500" y="3205906"/>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1" name="Google Shape;451;p38"/>
          <p:cNvSpPr/>
          <p:nvPr/>
        </p:nvSpPr>
        <p:spPr>
          <a:xfrm>
            <a:off x="571500" y="4188767"/>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2" name="Google Shape;452;p38"/>
          <p:cNvSpPr/>
          <p:nvPr/>
        </p:nvSpPr>
        <p:spPr>
          <a:xfrm>
            <a:off x="571500" y="4973538"/>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3" name="Google Shape;453;p38"/>
          <p:cNvSpPr/>
          <p:nvPr/>
        </p:nvSpPr>
        <p:spPr>
          <a:xfrm>
            <a:off x="571500" y="2213520"/>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4" name="Google Shape;454;p38"/>
          <p:cNvSpPr/>
          <p:nvPr/>
        </p:nvSpPr>
        <p:spPr>
          <a:xfrm>
            <a:off x="571500" y="2213520"/>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5" name="Google Shape;455;p38"/>
          <p:cNvSpPr/>
          <p:nvPr/>
        </p:nvSpPr>
        <p:spPr>
          <a:xfrm>
            <a:off x="571500" y="3196381"/>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6" name="Google Shape;456;p38"/>
          <p:cNvSpPr/>
          <p:nvPr/>
        </p:nvSpPr>
        <p:spPr>
          <a:xfrm>
            <a:off x="571500" y="3196381"/>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7" name="Google Shape;457;p38"/>
          <p:cNvSpPr/>
          <p:nvPr/>
        </p:nvSpPr>
        <p:spPr>
          <a:xfrm>
            <a:off x="571500" y="4179242"/>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8" name="Google Shape;458;p38"/>
          <p:cNvSpPr/>
          <p:nvPr/>
        </p:nvSpPr>
        <p:spPr>
          <a:xfrm>
            <a:off x="571500" y="4179242"/>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9" name="Google Shape;459;p38"/>
          <p:cNvSpPr/>
          <p:nvPr/>
        </p:nvSpPr>
        <p:spPr>
          <a:xfrm>
            <a:off x="571500" y="496401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0" name="Google Shape;460;p38"/>
          <p:cNvSpPr/>
          <p:nvPr/>
        </p:nvSpPr>
        <p:spPr>
          <a:xfrm>
            <a:off x="571500" y="496401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1" name="Google Shape;461;p38"/>
          <p:cNvSpPr/>
          <p:nvPr/>
        </p:nvSpPr>
        <p:spPr>
          <a:xfrm>
            <a:off x="571500" y="574878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2" name="Google Shape;462;p38"/>
          <p:cNvSpPr/>
          <p:nvPr/>
        </p:nvSpPr>
        <p:spPr>
          <a:xfrm>
            <a:off x="571500" y="574878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63" name="Google Shape;463;p38" descr="image.png"/>
          <p:cNvPicPr preferRelativeResize="0"/>
          <p:nvPr/>
        </p:nvPicPr>
        <p:blipFill rotWithShape="1">
          <a:blip r:embed="rId4">
            <a:alphaModFix/>
          </a:blip>
          <a:srcRect/>
          <a:stretch/>
        </p:blipFill>
        <p:spPr>
          <a:xfrm>
            <a:off x="571500" y="1587698"/>
            <a:ext cx="857250" cy="476250"/>
          </a:xfrm>
          <a:prstGeom prst="rect">
            <a:avLst/>
          </a:prstGeom>
          <a:noFill/>
          <a:ln>
            <a:noFill/>
          </a:ln>
        </p:spPr>
      </p:pic>
      <p:sp>
        <p:nvSpPr>
          <p:cNvPr id="464" name="Google Shape;464;p38"/>
          <p:cNvSpPr txBox="1"/>
          <p:nvPr/>
        </p:nvSpPr>
        <p:spPr>
          <a:xfrm>
            <a:off x="1666875" y="1581150"/>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https://exilontechnology.com/wp-content/uploads/2025/07/react-js-banner-1.jpg</a:t>
            </a:r>
            <a:endParaRPr/>
          </a:p>
        </p:txBody>
      </p:sp>
      <p:sp>
        <p:nvSpPr>
          <p:cNvPr id="465" name="Google Shape;465;p38"/>
          <p:cNvSpPr txBox="1"/>
          <p:nvPr/>
        </p:nvSpPr>
        <p:spPr>
          <a:xfrm>
            <a:off x="1666875" y="1826865"/>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exilontechnology.com</a:t>
            </a:r>
            <a:endParaRPr/>
          </a:p>
        </p:txBody>
      </p:sp>
      <p:pic>
        <p:nvPicPr>
          <p:cNvPr id="466" name="Google Shape;466;p38" descr="image.png"/>
          <p:cNvPicPr preferRelativeResize="0"/>
          <p:nvPr/>
        </p:nvPicPr>
        <p:blipFill rotWithShape="1">
          <a:blip r:embed="rId5">
            <a:alphaModFix/>
          </a:blip>
          <a:srcRect/>
          <a:stretch/>
        </p:blipFill>
        <p:spPr>
          <a:xfrm>
            <a:off x="571500" y="2471588"/>
            <a:ext cx="857250" cy="476250"/>
          </a:xfrm>
          <a:prstGeom prst="rect">
            <a:avLst/>
          </a:prstGeom>
          <a:noFill/>
          <a:ln>
            <a:noFill/>
          </a:ln>
        </p:spPr>
      </p:pic>
      <p:sp>
        <p:nvSpPr>
          <p:cNvPr id="467" name="Google Shape;467;p38"/>
          <p:cNvSpPr txBox="1"/>
          <p:nvPr/>
        </p:nvSpPr>
        <p:spPr>
          <a:xfrm>
            <a:off x="1666875" y="2365920"/>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https://img.pikbest.com/wp/202346/e-commerce-website-in-style-3d-render-of-smartphone-for-shopping-and-floating-ball-mobile-app-summer-sale-promotion-on-sky-blue-banner-illustration_9620542.jpg!w700wp</a:t>
            </a:r>
            <a:endParaRPr/>
          </a:p>
        </p:txBody>
      </p:sp>
      <p:sp>
        <p:nvSpPr>
          <p:cNvPr id="468" name="Google Shape;468;p38"/>
          <p:cNvSpPr txBox="1"/>
          <p:nvPr/>
        </p:nvSpPr>
        <p:spPr>
          <a:xfrm>
            <a:off x="1666875" y="2809726"/>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pikbest.com</a:t>
            </a:r>
            <a:endParaRPr/>
          </a:p>
        </p:txBody>
      </p:sp>
      <p:pic>
        <p:nvPicPr>
          <p:cNvPr id="469" name="Google Shape;469;p38" descr="image.png"/>
          <p:cNvPicPr preferRelativeResize="0"/>
          <p:nvPr/>
        </p:nvPicPr>
        <p:blipFill rotWithShape="1">
          <a:blip r:embed="rId6">
            <a:alphaModFix/>
          </a:blip>
          <a:srcRect/>
          <a:stretch/>
        </p:blipFill>
        <p:spPr>
          <a:xfrm>
            <a:off x="571500" y="3454449"/>
            <a:ext cx="857250" cy="476250"/>
          </a:xfrm>
          <a:prstGeom prst="rect">
            <a:avLst/>
          </a:prstGeom>
          <a:noFill/>
          <a:ln>
            <a:noFill/>
          </a:ln>
        </p:spPr>
      </p:pic>
      <p:sp>
        <p:nvSpPr>
          <p:cNvPr id="470" name="Google Shape;470;p38"/>
          <p:cNvSpPr txBox="1"/>
          <p:nvPr/>
        </p:nvSpPr>
        <p:spPr>
          <a:xfrm>
            <a:off x="1666875" y="3348781"/>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https://media2.dev.to/dynamic/image/width=1000,height=420,fit=cover,gravity=auto,format=auto/https%3A%2F%2Fdev-to-uploads.s3.amazonaws.com%2Fuploads%2Farticles%2Fzky5n045p1dilcqjhr2v.png</a:t>
            </a:r>
            <a:endParaRPr/>
          </a:p>
        </p:txBody>
      </p:sp>
      <p:sp>
        <p:nvSpPr>
          <p:cNvPr id="471" name="Google Shape;471;p38"/>
          <p:cNvSpPr txBox="1"/>
          <p:nvPr/>
        </p:nvSpPr>
        <p:spPr>
          <a:xfrm>
            <a:off x="1666875" y="3792587"/>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dev.to</a:t>
            </a:r>
            <a:endParaRPr/>
          </a:p>
        </p:txBody>
      </p:sp>
      <p:pic>
        <p:nvPicPr>
          <p:cNvPr id="472" name="Google Shape;472;p38" descr="image.png"/>
          <p:cNvPicPr preferRelativeResize="0"/>
          <p:nvPr/>
        </p:nvPicPr>
        <p:blipFill rotWithShape="1">
          <a:blip r:embed="rId7">
            <a:alphaModFix/>
          </a:blip>
          <a:srcRect/>
          <a:stretch/>
        </p:blipFill>
        <p:spPr>
          <a:xfrm>
            <a:off x="571500" y="4338191"/>
            <a:ext cx="857250" cy="476250"/>
          </a:xfrm>
          <a:prstGeom prst="rect">
            <a:avLst/>
          </a:prstGeom>
          <a:noFill/>
          <a:ln>
            <a:noFill/>
          </a:ln>
        </p:spPr>
      </p:pic>
      <p:sp>
        <p:nvSpPr>
          <p:cNvPr id="473" name="Google Shape;473;p38"/>
          <p:cNvSpPr txBox="1"/>
          <p:nvPr/>
        </p:nvSpPr>
        <p:spPr>
          <a:xfrm>
            <a:off x="1666875" y="4331642"/>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https://studio.uxpincdn.com/studio/wp-content/uploads/2024/07/React-Hooks-1024x512.webp</a:t>
            </a:r>
            <a:endParaRPr/>
          </a:p>
        </p:txBody>
      </p:sp>
      <p:sp>
        <p:nvSpPr>
          <p:cNvPr id="474" name="Google Shape;474;p38"/>
          <p:cNvSpPr txBox="1"/>
          <p:nvPr/>
        </p:nvSpPr>
        <p:spPr>
          <a:xfrm>
            <a:off x="1666875" y="4577357"/>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www.uxpin.com</a:t>
            </a:r>
            <a:endParaRPr/>
          </a:p>
        </p:txBody>
      </p:sp>
      <p:pic>
        <p:nvPicPr>
          <p:cNvPr id="475" name="Google Shape;475;p38" descr="image.png"/>
          <p:cNvPicPr preferRelativeResize="0"/>
          <p:nvPr/>
        </p:nvPicPr>
        <p:blipFill rotWithShape="1">
          <a:blip r:embed="rId8">
            <a:alphaModFix/>
          </a:blip>
          <a:srcRect/>
          <a:stretch/>
        </p:blipFill>
        <p:spPr>
          <a:xfrm>
            <a:off x="571500" y="5122961"/>
            <a:ext cx="857250" cy="476250"/>
          </a:xfrm>
          <a:prstGeom prst="rect">
            <a:avLst/>
          </a:prstGeom>
          <a:noFill/>
          <a:ln>
            <a:noFill/>
          </a:ln>
        </p:spPr>
      </p:pic>
      <p:sp>
        <p:nvSpPr>
          <p:cNvPr id="476" name="Google Shape;476;p38"/>
          <p:cNvSpPr txBox="1"/>
          <p:nvPr/>
        </p:nvSpPr>
        <p:spPr>
          <a:xfrm>
            <a:off x="1666875" y="5116413"/>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https://framerusercontent.com/images/4mNrn10xEkDk6dgZXQp5EiYgUPA.jpeg?width=800&amp;height=437</a:t>
            </a:r>
            <a:endParaRPr/>
          </a:p>
        </p:txBody>
      </p:sp>
      <p:sp>
        <p:nvSpPr>
          <p:cNvPr id="477" name="Google Shape;477;p38"/>
          <p:cNvSpPr txBox="1"/>
          <p:nvPr/>
        </p:nvSpPr>
        <p:spPr>
          <a:xfrm>
            <a:off x="1666875" y="5362128"/>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pieces.app</a:t>
            </a:r>
            <a:endParaRPr/>
          </a:p>
        </p:txBody>
      </p:sp>
      <p:pic>
        <p:nvPicPr>
          <p:cNvPr id="478" name="Google Shape;478;p38" descr="image.png"/>
          <p:cNvPicPr preferRelativeResize="0"/>
          <p:nvPr/>
        </p:nvPicPr>
        <p:blipFill rotWithShape="1">
          <a:blip r:embed="rId9">
            <a:alphaModFix/>
          </a:blip>
          <a:srcRect/>
          <a:stretch/>
        </p:blipFill>
        <p:spPr>
          <a:xfrm>
            <a:off x="571500" y="5907732"/>
            <a:ext cx="857250" cy="476250"/>
          </a:xfrm>
          <a:prstGeom prst="rect">
            <a:avLst/>
          </a:prstGeom>
          <a:noFill/>
          <a:ln>
            <a:noFill/>
          </a:ln>
        </p:spPr>
      </p:pic>
      <p:sp>
        <p:nvSpPr>
          <p:cNvPr id="479" name="Google Shape;479;p38"/>
          <p:cNvSpPr txBox="1"/>
          <p:nvPr/>
        </p:nvSpPr>
        <p:spPr>
          <a:xfrm>
            <a:off x="1666875" y="5901183"/>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https://tailwindcss.com/api/og?path=/docs/styling-with-utility-classes</a:t>
            </a:r>
            <a:endParaRPr/>
          </a:p>
        </p:txBody>
      </p:sp>
      <p:sp>
        <p:nvSpPr>
          <p:cNvPr id="480" name="Google Shape;480;p38"/>
          <p:cNvSpPr txBox="1"/>
          <p:nvPr/>
        </p:nvSpPr>
        <p:spPr>
          <a:xfrm>
            <a:off x="1666875" y="6146899"/>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tailwindcss.com</a:t>
            </a:r>
            <a:endParaRPr/>
          </a:p>
        </p:txBody>
      </p:sp>
      <p:sp>
        <p:nvSpPr>
          <p:cNvPr id="481" name="Google Shape;481;p38"/>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IMAGE SOURCES</a:t>
            </a:r>
            <a:endParaRPr/>
          </a:p>
        </p:txBody>
      </p:sp>
      <p:sp>
        <p:nvSpPr>
          <p:cNvPr id="482" name="Google Shape;482;p38"/>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86"/>
        <p:cNvGrpSpPr/>
        <p:nvPr/>
      </p:nvGrpSpPr>
      <p:grpSpPr>
        <a:xfrm>
          <a:off x="0" y="0"/>
          <a:ext cx="0" cy="0"/>
          <a:chOff x="0" y="0"/>
          <a:chExt cx="0" cy="0"/>
        </a:xfrm>
      </p:grpSpPr>
      <p:pic>
        <p:nvPicPr>
          <p:cNvPr id="487" name="Google Shape;487;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88" name="Google Shape;488;p39"/>
          <p:cNvSpPr/>
          <p:nvPr/>
        </p:nvSpPr>
        <p:spPr>
          <a:xfrm>
            <a:off x="571500" y="2198489"/>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9" name="Google Shape;489;p39"/>
          <p:cNvSpPr/>
          <p:nvPr/>
        </p:nvSpPr>
        <p:spPr>
          <a:xfrm>
            <a:off x="571500" y="2983259"/>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0" name="Google Shape;490;p39"/>
          <p:cNvSpPr/>
          <p:nvPr/>
        </p:nvSpPr>
        <p:spPr>
          <a:xfrm>
            <a:off x="571500" y="3768030"/>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1" name="Google Shape;491;p39"/>
          <p:cNvSpPr/>
          <p:nvPr/>
        </p:nvSpPr>
        <p:spPr>
          <a:xfrm>
            <a:off x="571500" y="2973734"/>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2" name="Google Shape;492;p39"/>
          <p:cNvSpPr/>
          <p:nvPr/>
        </p:nvSpPr>
        <p:spPr>
          <a:xfrm>
            <a:off x="571500" y="2973734"/>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3" name="Google Shape;493;p39"/>
          <p:cNvSpPr/>
          <p:nvPr/>
        </p:nvSpPr>
        <p:spPr>
          <a:xfrm>
            <a:off x="571500" y="3758505"/>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4" name="Google Shape;494;p39"/>
          <p:cNvSpPr/>
          <p:nvPr/>
        </p:nvSpPr>
        <p:spPr>
          <a:xfrm>
            <a:off x="571500" y="3758505"/>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5" name="Google Shape;495;p39"/>
          <p:cNvSpPr/>
          <p:nvPr/>
        </p:nvSpPr>
        <p:spPr>
          <a:xfrm>
            <a:off x="571500" y="4741366"/>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6" name="Google Shape;496;p39"/>
          <p:cNvSpPr/>
          <p:nvPr/>
        </p:nvSpPr>
        <p:spPr>
          <a:xfrm>
            <a:off x="571500" y="4741366"/>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97" name="Google Shape;497;p39" descr="image.png"/>
          <p:cNvPicPr preferRelativeResize="0"/>
          <p:nvPr/>
        </p:nvPicPr>
        <p:blipFill rotWithShape="1">
          <a:blip r:embed="rId4">
            <a:alphaModFix/>
          </a:blip>
          <a:srcRect/>
          <a:stretch/>
        </p:blipFill>
        <p:spPr>
          <a:xfrm>
            <a:off x="571500" y="2347912"/>
            <a:ext cx="857250" cy="476250"/>
          </a:xfrm>
          <a:prstGeom prst="rect">
            <a:avLst/>
          </a:prstGeom>
          <a:noFill/>
          <a:ln>
            <a:noFill/>
          </a:ln>
        </p:spPr>
      </p:pic>
      <p:sp>
        <p:nvSpPr>
          <p:cNvPr id="498" name="Google Shape;498;p39"/>
          <p:cNvSpPr txBox="1"/>
          <p:nvPr/>
        </p:nvSpPr>
        <p:spPr>
          <a:xfrm>
            <a:off x="1666875" y="2341364"/>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https://i.sstatic.net/5DZN4.png</a:t>
            </a:r>
            <a:endParaRPr/>
          </a:p>
        </p:txBody>
      </p:sp>
      <p:sp>
        <p:nvSpPr>
          <p:cNvPr id="499" name="Google Shape;499;p39"/>
          <p:cNvSpPr txBox="1"/>
          <p:nvPr/>
        </p:nvSpPr>
        <p:spPr>
          <a:xfrm>
            <a:off x="1666875" y="2587079"/>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stackoverflow.com</a:t>
            </a:r>
            <a:endParaRPr/>
          </a:p>
        </p:txBody>
      </p:sp>
      <p:pic>
        <p:nvPicPr>
          <p:cNvPr id="500" name="Google Shape;500;p39" descr="image.png"/>
          <p:cNvPicPr preferRelativeResize="0"/>
          <p:nvPr/>
        </p:nvPicPr>
        <p:blipFill rotWithShape="1">
          <a:blip r:embed="rId5">
            <a:alphaModFix/>
          </a:blip>
          <a:srcRect/>
          <a:stretch/>
        </p:blipFill>
        <p:spPr>
          <a:xfrm>
            <a:off x="571500" y="3132683"/>
            <a:ext cx="857250" cy="476250"/>
          </a:xfrm>
          <a:prstGeom prst="rect">
            <a:avLst/>
          </a:prstGeom>
          <a:noFill/>
          <a:ln>
            <a:noFill/>
          </a:ln>
        </p:spPr>
      </p:pic>
      <p:sp>
        <p:nvSpPr>
          <p:cNvPr id="501" name="Google Shape;501;p39"/>
          <p:cNvSpPr txBox="1"/>
          <p:nvPr/>
        </p:nvSpPr>
        <p:spPr>
          <a:xfrm>
            <a:off x="1666875" y="3126134"/>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https://assets.justinmind.com/wp-content/uploads/2019/10/shopping-cart-ui-best-practices.png</a:t>
            </a:r>
            <a:endParaRPr/>
          </a:p>
        </p:txBody>
      </p:sp>
      <p:sp>
        <p:nvSpPr>
          <p:cNvPr id="502" name="Google Shape;502;p39"/>
          <p:cNvSpPr txBox="1"/>
          <p:nvPr/>
        </p:nvSpPr>
        <p:spPr>
          <a:xfrm>
            <a:off x="1666875" y="3371850"/>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www.justinmind.com</a:t>
            </a:r>
            <a:endParaRPr/>
          </a:p>
        </p:txBody>
      </p:sp>
      <p:pic>
        <p:nvPicPr>
          <p:cNvPr id="503" name="Google Shape;503;p39" descr="image.png"/>
          <p:cNvPicPr preferRelativeResize="0"/>
          <p:nvPr/>
        </p:nvPicPr>
        <p:blipFill rotWithShape="1">
          <a:blip r:embed="rId6">
            <a:alphaModFix/>
          </a:blip>
          <a:srcRect/>
          <a:stretch/>
        </p:blipFill>
        <p:spPr>
          <a:xfrm>
            <a:off x="571500" y="4016573"/>
            <a:ext cx="857250" cy="476250"/>
          </a:xfrm>
          <a:prstGeom prst="rect">
            <a:avLst/>
          </a:prstGeom>
          <a:noFill/>
          <a:ln>
            <a:noFill/>
          </a:ln>
        </p:spPr>
      </p:pic>
      <p:sp>
        <p:nvSpPr>
          <p:cNvPr id="504" name="Google Shape;504;p39"/>
          <p:cNvSpPr txBox="1"/>
          <p:nvPr/>
        </p:nvSpPr>
        <p:spPr>
          <a:xfrm>
            <a:off x="1666875" y="3910905"/>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https://static.vecteezy.com/system/resources/previews/070/705/887/large_2x/responsive-website-design-mockup-displayed-on-multiple-devices-desktop-laptop-tablet-and-smartphone-photo.jpeg</a:t>
            </a:r>
            <a:endParaRPr/>
          </a:p>
        </p:txBody>
      </p:sp>
      <p:sp>
        <p:nvSpPr>
          <p:cNvPr id="505" name="Google Shape;505;p39"/>
          <p:cNvSpPr txBox="1"/>
          <p:nvPr/>
        </p:nvSpPr>
        <p:spPr>
          <a:xfrm>
            <a:off x="1666875" y="4354710"/>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www.vecteezy.com</a:t>
            </a:r>
            <a:endParaRPr/>
          </a:p>
        </p:txBody>
      </p:sp>
      <p:pic>
        <p:nvPicPr>
          <p:cNvPr id="506" name="Google Shape;506;p39" descr="image.png"/>
          <p:cNvPicPr preferRelativeResize="0"/>
          <p:nvPr/>
        </p:nvPicPr>
        <p:blipFill rotWithShape="1">
          <a:blip r:embed="rId7">
            <a:alphaModFix/>
          </a:blip>
          <a:srcRect/>
          <a:stretch/>
        </p:blipFill>
        <p:spPr>
          <a:xfrm>
            <a:off x="571500" y="4900314"/>
            <a:ext cx="857250" cy="476250"/>
          </a:xfrm>
          <a:prstGeom prst="rect">
            <a:avLst/>
          </a:prstGeom>
          <a:noFill/>
          <a:ln>
            <a:noFill/>
          </a:ln>
        </p:spPr>
      </p:pic>
      <p:sp>
        <p:nvSpPr>
          <p:cNvPr id="507" name="Google Shape;507;p39"/>
          <p:cNvSpPr txBox="1"/>
          <p:nvPr/>
        </p:nvSpPr>
        <p:spPr>
          <a:xfrm>
            <a:off x="1666875" y="4893766"/>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a:ea typeface="Inter"/>
                <a:cs typeface="Inter"/>
                <a:sym typeface="Inter"/>
              </a:rPr>
              <a:t>https://www.slideegg.com/image/catalog/88412-ppt-background-thank-you.png</a:t>
            </a:r>
            <a:endParaRPr/>
          </a:p>
        </p:txBody>
      </p:sp>
      <p:sp>
        <p:nvSpPr>
          <p:cNvPr id="508" name="Google Shape;508;p39"/>
          <p:cNvSpPr txBox="1"/>
          <p:nvPr/>
        </p:nvSpPr>
        <p:spPr>
          <a:xfrm>
            <a:off x="1666875" y="5139481"/>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www.slideegg.com</a:t>
            </a:r>
            <a:endParaRPr/>
          </a:p>
        </p:txBody>
      </p:sp>
      <p:sp>
        <p:nvSpPr>
          <p:cNvPr id="509" name="Google Shape;509;p39"/>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IMAGE SOURCES</a:t>
            </a:r>
            <a:endParaRPr/>
          </a:p>
        </p:txBody>
      </p:sp>
      <p:sp>
        <p:nvSpPr>
          <p:cNvPr id="510" name="Google Shape;510;p39"/>
          <p:cNvSpPr/>
          <p:nvPr/>
        </p:nvSpPr>
        <p:spPr>
          <a:xfrm>
            <a:off x="571500" y="571500"/>
            <a:ext cx="57150" cy="48577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1618</Words>
  <Application>Microsoft Office PowerPoint</Application>
  <PresentationFormat>Widescreen</PresentationFormat>
  <Paragraphs>163</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Urbanist</vt:lpstr>
      <vt:lpstr>Calibri</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Administrator</cp:lastModifiedBy>
  <cp:revision>8</cp:revision>
  <dcterms:modified xsi:type="dcterms:W3CDTF">2026-01-04T19:24:08Z</dcterms:modified>
</cp:coreProperties>
</file>